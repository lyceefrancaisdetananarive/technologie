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PROJETER : completez la premiere diapositive avec votre nom, votre groupe, votre salle, votre effectif et votre nombre de postes. Un fichier PowerPoint ne peut pas lire les reglages de la page Mes informations du site. Rester a la porte. Les binomes sont affiches. Appel a voix haute en regardant chaque eleve : c'est la premiere fois qu'ils entendent leur nom dans cette salle.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lignes au tableau, les memes que ces trois cartes. Ne pas developper : ils verront.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physiquement le releve. La garantie est materielle, pas seulement verbale : c'est ce qui la rend credible a 14 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allumer les 9 postes ensemble. Rester dans l'allee, ne jamais se placer derriere un ecran pendant une frappe.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L'objet doit etre respecte a la lettre : c'est le filtre de la boite qui fait le releve. Un envoi depuis une adresse personnelle ne compte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Repeter la regle avant chaque tour. Une fausse ligne se voit immediatement au depouillement, l'expediteur ne ment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repondre au contenu pendant la passation, seulement a la technique. Noter ce qui bloque : c'est la matiere de la sequence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reste affichee pendant toute la passation. Annoncer le temps restant a chaque changement de partie.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Verifier l'arrivee des 9 rendus AVANT que quiconque ne se leve. Un binome dont le rendu n'arrive pas recommence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choses, pas une de plus. NE PAS dire que ce sont les premiers a passer le brevet nouvelle formule : la formule 60/40 vaut depuis 2026. La vraie nouveaute 2027 est que les sujets ecrits portent sur le programme de troisieme. Les deux disciplines de sciences sont annoncees environ deux mois avant, pas tirees au sort le jour J : on ne sait donc pas encore si la technologie en fera partie, et il faut le dire. Les dates pour Madagascar, groupe 1d des centres etrangers, ne sont pas publiees.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Valider poste par poste, d'un coup d'oeil sur l'ecran. C'est la contrepartie non negociable du travail en salle partagee.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Ramasser les feuilles B a la porte, une par une, en nommant chaque eleve : deuxieme occasion d'apprendre les prenoms.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4F"/>
        </a:solidFill>
      </p:bgPr>
    </p:bg>
    <p:spTree>
      <p:nvGrpSpPr>
        <p:cNvPr id="1" name=""/>
        <p:cNvGrpSpPr/>
        <p:nvPr/>
      </p:nvGrpSpPr>
      <p:grpSpPr>
        <a:xfrm>
          <a:off x="0" y="0"/>
          <a:ext cx="0" cy="0"/>
          <a:chOff x="0" y="0"/>
          <a:chExt cx="0" cy="0"/>
        </a:xfrm>
      </p:grpSpPr>
      <p:sp>
        <p:nvSpPr>
          <p:cNvPr id="2" name="Text 0"/>
          <p:cNvSpPr txBox="1"/>
          <p:nvPr/>
        </p:nvSpPr>
        <p:spPr>
          <a:xfrm>
            <a:off x="822960" y="1737360"/>
            <a:ext cx="10515600" cy="548640"/>
          </a:xfrm>
          <a:prstGeom prst="rect">
            <a:avLst/>
          </a:prstGeom>
          <a:noFill/>
          <a:ln/>
        </p:spPr>
        <p:txBody>
          <a:bodyPr wrap="square" lIns="0" tIns="0" rIns="0" bIns="0" rtlCol="0" anchor="ctr"/>
          <a:lstStyle/>
          <a:p>
            <a:pPr indent="0" marL="0">
              <a:buNone/>
            </a:pPr>
            <a:r>
              <a:rPr lang="en-US" sz="2200" spc="400" kern="0" dirty="0">
                <a:solidFill>
                  <a:srgbClr val="7FB2DA"/>
                </a:solidFill>
                <a:latin typeface="Calibri" pitchFamily="34" charset="0"/>
                <a:ea typeface="Calibri" pitchFamily="34" charset="-122"/>
                <a:cs typeface="Calibri" pitchFamily="34" charset="-120"/>
              </a:rPr>
              <a:t>Technologie</a:t>
            </a:r>
            <a:endParaRPr lang="en-US" sz="2200" dirty="0"/>
          </a:p>
        </p:txBody>
      </p:sp>
      <p:sp>
        <p:nvSpPr>
          <p:cNvPr id="3" name="Text 1"/>
          <p:cNvSpPr txBox="1"/>
          <p:nvPr/>
        </p:nvSpPr>
        <p:spPr>
          <a:xfrm>
            <a:off x="822960" y="2240280"/>
            <a:ext cx="10515600" cy="137160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Bienvenue en 3e</a:t>
            </a:r>
            <a:endParaRPr lang="en-US" sz="6200" dirty="0"/>
          </a:p>
        </p:txBody>
      </p:sp>
      <p:sp>
        <p:nvSpPr>
          <p:cNvPr id="4" name="Text 2"/>
          <p:cNvSpPr txBox="1"/>
          <p:nvPr/>
        </p:nvSpPr>
        <p:spPr>
          <a:xfrm>
            <a:off x="822960" y="3657600"/>
            <a:ext cx="10515600" cy="457200"/>
          </a:xfrm>
          <a:prstGeom prst="rect">
            <a:avLst/>
          </a:prstGeom>
          <a:noFill/>
          <a:ln/>
        </p:spPr>
        <p:txBody>
          <a:bodyPr wrap="square" lIns="0" tIns="0" rIns="0" bIns="0" rtlCol="0" anchor="ctr"/>
          <a:lstStyle/>
          <a:p>
            <a:pPr indent="0" marL="0">
              <a:buNone/>
            </a:pPr>
            <a:r>
              <a:rPr lang="en-US" sz="2000" dirty="0">
                <a:solidFill>
                  <a:srgbClr val="C6DBEC"/>
                </a:solidFill>
                <a:latin typeface="Calibri" pitchFamily="34" charset="0"/>
                <a:ea typeface="Calibri" pitchFamily="34" charset="-122"/>
                <a:cs typeface="Calibri" pitchFamily="34" charset="-120"/>
              </a:rPr>
              <a:t>Groupe ……… · salle ……… · ………</a:t>
            </a:r>
            <a:endParaRPr lang="en-US" sz="2000" dirty="0"/>
          </a:p>
        </p:txBody>
      </p:sp>
      <p:sp>
        <p:nvSpPr>
          <p:cNvPr id="5" name="Text 3"/>
          <p:cNvSpPr txBox="1"/>
          <p:nvPr/>
        </p:nvSpPr>
        <p:spPr>
          <a:xfrm>
            <a:off x="822960" y="4160520"/>
            <a:ext cx="7315200" cy="457200"/>
          </a:xfrm>
          <a:prstGeom prst="rect">
            <a:avLst/>
          </a:prstGeom>
          <a:noFill/>
          <a:ln/>
        </p:spPr>
        <p:txBody>
          <a:bodyPr wrap="square" lIns="0" tIns="0" rIns="0" bIns="0" rtlCol="0" anchor="ctr"/>
          <a:lstStyle/>
          <a:p>
            <a:pPr indent="0" marL="0">
              <a:buNone/>
            </a:pPr>
            <a:r>
              <a:rPr lang="en-US" sz="1700" dirty="0">
                <a:solidFill>
                  <a:srgbClr val="7FB2DA"/>
                </a:solidFill>
                <a:latin typeface="Calibri" pitchFamily="34" charset="0"/>
                <a:ea typeface="Calibri" pitchFamily="34" charset="-122"/>
                <a:cs typeface="Calibri" pitchFamily="34" charset="-120"/>
              </a:rPr>
              <a:t>……… élèves · ……… postes · 90 minutes</a:t>
            </a:r>
            <a:endParaRPr lang="en-US" sz="1700" dirty="0"/>
          </a:p>
        </p:txBody>
      </p:sp>
      <p:sp>
        <p:nvSpPr>
          <p:cNvPr id="6" name="Shape 4"/>
          <p:cNvSpPr/>
          <p:nvPr/>
        </p:nvSpPr>
        <p:spPr>
          <a:xfrm>
            <a:off x="8915400" y="2148840"/>
            <a:ext cx="2377440" cy="2377440"/>
          </a:xfrm>
          <a:prstGeom prst="rect">
            <a:avLst/>
          </a:prstGeom>
          <a:solidFill>
            <a:srgbClr val="00304F"/>
          </a:solidFill>
          <a:ln w="50800">
            <a:solidFill>
              <a:srgbClr val="7FB2DA"/>
            </a:solidFill>
            <a:prstDash val="solid"/>
          </a:ln>
        </p:spPr>
      </p:sp>
      <p:sp>
        <p:nvSpPr>
          <p:cNvPr id="7" name="Text 5"/>
          <p:cNvSpPr txBox="1"/>
          <p:nvPr/>
        </p:nvSpPr>
        <p:spPr>
          <a:xfrm>
            <a:off x="8915400" y="2148840"/>
            <a:ext cx="2377440" cy="2377440"/>
          </a:xfrm>
          <a:prstGeom prst="rect">
            <a:avLst/>
          </a:prstGeom>
          <a:noFill/>
          <a:ln/>
        </p:spPr>
        <p:txBody>
          <a:bodyPr wrap="square" lIns="0" tIns="0" rIns="0" bIns="0" rtlCol="0" anchor="ctr"/>
          <a:lstStyle/>
          <a:p>
            <a:pPr algn="ctr" indent="0" marL="0">
              <a:buNone/>
            </a:pPr>
            <a:r>
              <a:rPr lang="en-US" sz="8600" b="1" dirty="0">
                <a:solidFill>
                  <a:srgbClr val="FFFFFF"/>
                </a:solidFill>
                <a:latin typeface="Cambria" pitchFamily="34" charset="0"/>
                <a:ea typeface="Cambria" pitchFamily="34" charset="-122"/>
                <a:cs typeface="Cambria" pitchFamily="34" charset="-120"/>
              </a:rPr>
              <a:t>3e</a:t>
            </a:r>
            <a:endParaRPr lang="en-US" sz="8600" dirty="0"/>
          </a:p>
        </p:txBody>
      </p:sp>
      <p:sp>
        <p:nvSpPr>
          <p:cNvPr id="8" name="Shape 6"/>
          <p:cNvSpPr/>
          <p:nvPr/>
        </p:nvSpPr>
        <p:spPr>
          <a:xfrm>
            <a:off x="713232" y="5010912"/>
            <a:ext cx="877824" cy="877824"/>
          </a:xfrm>
          <a:prstGeom prst="roundRect">
            <a:avLst>
              <a:gd name="adj" fmla="val 8333"/>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822960" y="5120640"/>
            <a:ext cx="658368" cy="658368"/>
          </a:xfrm>
          <a:prstGeom prst="rect">
            <a:avLst/>
          </a:prstGeom>
        </p:spPr>
      </p:pic>
      <p:sp>
        <p:nvSpPr>
          <p:cNvPr id="10" name="Shape 7"/>
          <p:cNvSpPr/>
          <p:nvPr/>
        </p:nvSpPr>
        <p:spPr>
          <a:xfrm>
            <a:off x="9802368" y="5084064"/>
            <a:ext cx="2112264" cy="749808"/>
          </a:xfrm>
          <a:prstGeom prst="roundRect">
            <a:avLst>
              <a:gd name="adj" fmla="val 9756"/>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9966960" y="5230368"/>
            <a:ext cx="178308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144768"/>
            <a:ext cx="457200" cy="457200"/>
          </a:xfrm>
          <a:prstGeom prst="rect">
            <a:avLst/>
          </a:prstGeom>
        </p:spPr>
      </p:pic>
      <p:pic>
        <p:nvPicPr>
          <p:cNvPr id="3" name="Image 1" descr="preencoded.png">    </p:cNvPr>
          <p:cNvPicPr>
            <a:picLocks noChangeAspect="1"/>
          </p:cNvPicPr>
          <p:nvPr/>
        </p:nvPicPr>
        <p:blipFill>
          <a:blip r:embed="rId2"/>
          <a:stretch>
            <a:fillRect/>
          </a:stretch>
        </p:blipFill>
        <p:spPr>
          <a:xfrm>
            <a:off x="10378440" y="6199632"/>
            <a:ext cx="1371600" cy="347472"/>
          </a:xfrm>
          <a:prstGeom prst="rect">
            <a:avLst/>
          </a:prstGeom>
        </p:spPr>
      </p:pic>
      <p:sp>
        <p:nvSpPr>
          <p:cNvPr id="4" name="Text 0"/>
          <p:cNvSpPr txBox="1"/>
          <p:nvPr/>
        </p:nvSpPr>
        <p:spPr>
          <a:xfrm>
            <a:off x="960120" y="6199632"/>
            <a:ext cx="5486400" cy="32918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Technologie · 3e · première séance</a:t>
            </a:r>
            <a:endParaRPr lang="en-US" sz="1000" dirty="0"/>
          </a:p>
        </p:txBody>
      </p:sp>
      <p:sp>
        <p:nvSpPr>
          <p:cNvPr id="5" name="Text 1"/>
          <p:cNvSpPr txBox="1"/>
          <p:nvPr/>
        </p:nvSpPr>
        <p:spPr>
          <a:xfrm>
            <a:off x="640080" y="384048"/>
            <a:ext cx="10881360" cy="292608"/>
          </a:xfrm>
          <a:prstGeom prst="rect">
            <a:avLst/>
          </a:prstGeom>
          <a:noFill/>
          <a:ln/>
        </p:spPr>
        <p:txBody>
          <a:bodyPr wrap="square" lIns="0" tIns="0" rIns="0" bIns="0" rtlCol="0" anchor="ctr"/>
          <a:lstStyle/>
          <a:p>
            <a:pPr indent="0" marL="0">
              <a:buNone/>
            </a:pPr>
            <a:r>
              <a:rPr lang="en-US" sz="1300" b="1" spc="200" kern="0" dirty="0">
                <a:solidFill>
                  <a:srgbClr val="00549F"/>
                </a:solidFill>
                <a:latin typeface="Calibri" pitchFamily="34" charset="0"/>
                <a:ea typeface="Calibri" pitchFamily="34" charset="-122"/>
                <a:cs typeface="Calibri" pitchFamily="34" charset="-120"/>
              </a:rPr>
              <a:t>CE QUE NOUS ALLONS FAIRE</a:t>
            </a:r>
            <a:endParaRPr lang="en-US" sz="1300" dirty="0"/>
          </a:p>
        </p:txBody>
      </p:sp>
      <p:sp>
        <p:nvSpPr>
          <p:cNvPr id="6" name="Text 2"/>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L'heure en trois temps</a:t>
            </a:r>
            <a:endParaRPr lang="en-US" sz="3400" dirty="0"/>
          </a:p>
        </p:txBody>
      </p:sp>
      <p:sp>
        <p:nvSpPr>
          <p:cNvPr id="7" name="Shape 3"/>
          <p:cNvSpPr/>
          <p:nvPr/>
        </p:nvSpPr>
        <p:spPr>
          <a:xfrm>
            <a:off x="640080" y="1828800"/>
            <a:ext cx="3520440" cy="3291840"/>
          </a:xfrm>
          <a:prstGeom prst="roundRect">
            <a:avLst>
              <a:gd name="adj" fmla="val 3333"/>
            </a:avLst>
          </a:prstGeom>
          <a:solidFill>
            <a:srgbClr val="E8F1FA"/>
          </a:solidFill>
          <a:ln w="12700">
            <a:solidFill>
              <a:srgbClr val="C7DDF2"/>
            </a:solidFill>
            <a:prstDash val="solid"/>
          </a:ln>
        </p:spPr>
      </p:sp>
      <p:sp>
        <p:nvSpPr>
          <p:cNvPr id="8" name="Shape 4"/>
          <p:cNvSpPr/>
          <p:nvPr/>
        </p:nvSpPr>
        <p:spPr>
          <a:xfrm>
            <a:off x="914400" y="2066544"/>
            <a:ext cx="502920" cy="502920"/>
          </a:xfrm>
          <a:prstGeom prst="ellipse">
            <a:avLst/>
          </a:prstGeom>
          <a:solidFill>
            <a:srgbClr val="00549F"/>
          </a:solidFill>
          <a:ln w="12700">
            <a:solidFill>
              <a:srgbClr val="00549F"/>
            </a:solidFill>
            <a:prstDash val="solid"/>
          </a:ln>
        </p:spPr>
      </p:sp>
      <p:sp>
        <p:nvSpPr>
          <p:cNvPr id="9" name="Text 5"/>
          <p:cNvSpPr txBox="1"/>
          <p:nvPr/>
        </p:nvSpPr>
        <p:spPr>
          <a:xfrm>
            <a:off x="914400" y="206654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10" name="Text 6"/>
          <p:cNvSpPr txBox="1"/>
          <p:nvPr/>
        </p:nvSpPr>
        <p:spPr>
          <a:xfrm>
            <a:off x="914400" y="2697480"/>
            <a:ext cx="2971800" cy="402336"/>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Vos comptes</a:t>
            </a:r>
            <a:endParaRPr lang="en-US" sz="1700" dirty="0"/>
          </a:p>
        </p:txBody>
      </p:sp>
      <p:sp>
        <p:nvSpPr>
          <p:cNvPr id="11" name="Text 7"/>
          <p:cNvSpPr txBox="1"/>
          <p:nvPr/>
        </p:nvSpPr>
        <p:spPr>
          <a:xfrm>
            <a:off x="914400" y="3172968"/>
            <a:ext cx="2971800" cy="176479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Chacun se connecte à son compte du lycée et m'envoie un courriel test.</a:t>
            </a:r>
            <a:endParaRPr lang="en-US" sz="1500" dirty="0"/>
          </a:p>
          <a:p>
            <a:pPr indent="0" marL="0">
              <a:lnSpc>
                <a:spcPts val="2100"/>
              </a:lnSpc>
              <a:buNone/>
            </a:pPr>
            <a:endParaRPr lang="en-US" sz="1500" dirty="0"/>
          </a:p>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20 minutes</a:t>
            </a:r>
            <a:endParaRPr lang="en-US" sz="1500" dirty="0"/>
          </a:p>
        </p:txBody>
      </p:sp>
      <p:sp>
        <p:nvSpPr>
          <p:cNvPr id="12" name="Shape 8"/>
          <p:cNvSpPr/>
          <p:nvPr/>
        </p:nvSpPr>
        <p:spPr>
          <a:xfrm>
            <a:off x="4343400" y="1828800"/>
            <a:ext cx="3520440" cy="3291840"/>
          </a:xfrm>
          <a:prstGeom prst="roundRect">
            <a:avLst>
              <a:gd name="adj" fmla="val 3333"/>
            </a:avLst>
          </a:prstGeom>
          <a:solidFill>
            <a:srgbClr val="E8F1FA"/>
          </a:solidFill>
          <a:ln w="12700">
            <a:solidFill>
              <a:srgbClr val="C7DDF2"/>
            </a:solidFill>
            <a:prstDash val="solid"/>
          </a:ln>
        </p:spPr>
      </p:sp>
      <p:sp>
        <p:nvSpPr>
          <p:cNvPr id="13" name="Shape 9"/>
          <p:cNvSpPr/>
          <p:nvPr/>
        </p:nvSpPr>
        <p:spPr>
          <a:xfrm>
            <a:off x="4617720" y="2066544"/>
            <a:ext cx="502920" cy="502920"/>
          </a:xfrm>
          <a:prstGeom prst="ellipse">
            <a:avLst/>
          </a:prstGeom>
          <a:solidFill>
            <a:srgbClr val="00549F"/>
          </a:solidFill>
          <a:ln w="12700">
            <a:solidFill>
              <a:srgbClr val="00549F"/>
            </a:solidFill>
            <a:prstDash val="solid"/>
          </a:ln>
        </p:spPr>
      </p:sp>
      <p:sp>
        <p:nvSpPr>
          <p:cNvPr id="14" name="Text 10"/>
          <p:cNvSpPr txBox="1"/>
          <p:nvPr/>
        </p:nvSpPr>
        <p:spPr>
          <a:xfrm>
            <a:off x="4617720" y="206654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5" name="Text 11"/>
          <p:cNvSpPr txBox="1"/>
          <p:nvPr/>
        </p:nvSpPr>
        <p:spPr>
          <a:xfrm>
            <a:off x="4617720" y="2697480"/>
            <a:ext cx="2971800" cy="402336"/>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Le diagnostic</a:t>
            </a:r>
            <a:endParaRPr lang="en-US" sz="1700" dirty="0"/>
          </a:p>
        </p:txBody>
      </p:sp>
      <p:sp>
        <p:nvSpPr>
          <p:cNvPr id="16" name="Text 12"/>
          <p:cNvSpPr txBox="1"/>
          <p:nvPr/>
        </p:nvSpPr>
        <p:spPr>
          <a:xfrm>
            <a:off x="4617720" y="3172968"/>
            <a:ext cx="2971800" cy="176479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À deux, sur un poste. Ce travail n'est pas noté et ne compte pas dans votre moyenne.</a:t>
            </a:r>
            <a:endParaRPr lang="en-US" sz="1500" dirty="0"/>
          </a:p>
          <a:p>
            <a:pPr indent="0" marL="0">
              <a:lnSpc>
                <a:spcPts val="2100"/>
              </a:lnSpc>
              <a:buNone/>
            </a:pPr>
            <a:endParaRPr lang="en-US" sz="1500" dirty="0"/>
          </a:p>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35 minutes</a:t>
            </a:r>
            <a:endParaRPr lang="en-US" sz="1500" dirty="0"/>
          </a:p>
        </p:txBody>
      </p:sp>
      <p:sp>
        <p:nvSpPr>
          <p:cNvPr id="17" name="Shape 13"/>
          <p:cNvSpPr/>
          <p:nvPr/>
        </p:nvSpPr>
        <p:spPr>
          <a:xfrm>
            <a:off x="8046720" y="1828800"/>
            <a:ext cx="3520440" cy="3291840"/>
          </a:xfrm>
          <a:prstGeom prst="roundRect">
            <a:avLst>
              <a:gd name="adj" fmla="val 3333"/>
            </a:avLst>
          </a:prstGeom>
          <a:solidFill>
            <a:srgbClr val="E8F1FA"/>
          </a:solidFill>
          <a:ln w="12700">
            <a:solidFill>
              <a:srgbClr val="C7DDF2"/>
            </a:solidFill>
            <a:prstDash val="solid"/>
          </a:ln>
        </p:spPr>
      </p:sp>
      <p:sp>
        <p:nvSpPr>
          <p:cNvPr id="18" name="Shape 14"/>
          <p:cNvSpPr/>
          <p:nvPr/>
        </p:nvSpPr>
        <p:spPr>
          <a:xfrm>
            <a:off x="8321040" y="2066544"/>
            <a:ext cx="502920" cy="502920"/>
          </a:xfrm>
          <a:prstGeom prst="ellipse">
            <a:avLst/>
          </a:prstGeom>
          <a:solidFill>
            <a:srgbClr val="00549F"/>
          </a:solidFill>
          <a:ln w="12700">
            <a:solidFill>
              <a:srgbClr val="00549F"/>
            </a:solidFill>
            <a:prstDash val="solid"/>
          </a:ln>
        </p:spPr>
      </p:sp>
      <p:sp>
        <p:nvSpPr>
          <p:cNvPr id="19" name="Text 15"/>
          <p:cNvSpPr txBox="1"/>
          <p:nvPr/>
        </p:nvSpPr>
        <p:spPr>
          <a:xfrm>
            <a:off x="8321040" y="206654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3</a:t>
            </a:r>
            <a:endParaRPr lang="en-US" sz="2100" dirty="0"/>
          </a:p>
        </p:txBody>
      </p:sp>
      <p:sp>
        <p:nvSpPr>
          <p:cNvPr id="20" name="Text 16"/>
          <p:cNvSpPr txBox="1"/>
          <p:nvPr/>
        </p:nvSpPr>
        <p:spPr>
          <a:xfrm>
            <a:off x="8321040" y="2697480"/>
            <a:ext cx="2971800" cy="402336"/>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Le rendu</a:t>
            </a:r>
            <a:endParaRPr lang="en-US" sz="1700" dirty="0"/>
          </a:p>
        </p:txBody>
      </p:sp>
      <p:sp>
        <p:nvSpPr>
          <p:cNvPr id="21" name="Text 17"/>
          <p:cNvSpPr txBox="1"/>
          <p:nvPr/>
        </p:nvSpPr>
        <p:spPr>
          <a:xfrm>
            <a:off x="8321040" y="3172968"/>
            <a:ext cx="2971800" cy="176479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Vous générez un PDF et vous me l'envoyez. C'est le geste de toute l'année.</a:t>
            </a:r>
            <a:endParaRPr lang="en-US" sz="1500" dirty="0"/>
          </a:p>
          <a:p>
            <a:pPr indent="0" marL="0">
              <a:lnSpc>
                <a:spcPts val="2100"/>
              </a:lnSpc>
              <a:buNone/>
            </a:pPr>
            <a:endParaRPr lang="en-US" sz="1500" dirty="0"/>
          </a:p>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8 minutes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144768"/>
            <a:ext cx="457200" cy="457200"/>
          </a:xfrm>
          <a:prstGeom prst="rect">
            <a:avLst/>
          </a:prstGeom>
        </p:spPr>
      </p:pic>
      <p:pic>
        <p:nvPicPr>
          <p:cNvPr id="3" name="Image 1" descr="preencoded.png">    </p:cNvPr>
          <p:cNvPicPr>
            <a:picLocks noChangeAspect="1"/>
          </p:cNvPicPr>
          <p:nvPr/>
        </p:nvPicPr>
        <p:blipFill>
          <a:blip r:embed="rId2"/>
          <a:stretch>
            <a:fillRect/>
          </a:stretch>
        </p:blipFill>
        <p:spPr>
          <a:xfrm>
            <a:off x="10378440" y="6199632"/>
            <a:ext cx="1371600" cy="347472"/>
          </a:xfrm>
          <a:prstGeom prst="rect">
            <a:avLst/>
          </a:prstGeom>
        </p:spPr>
      </p:pic>
      <p:sp>
        <p:nvSpPr>
          <p:cNvPr id="4" name="Text 0"/>
          <p:cNvSpPr txBox="1"/>
          <p:nvPr/>
        </p:nvSpPr>
        <p:spPr>
          <a:xfrm>
            <a:off x="960120" y="6199632"/>
            <a:ext cx="5486400" cy="32918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Technologie · 3e · première séance</a:t>
            </a:r>
            <a:endParaRPr lang="en-US" sz="1000" dirty="0"/>
          </a:p>
        </p:txBody>
      </p:sp>
      <p:sp>
        <p:nvSpPr>
          <p:cNvPr id="5" name="Text 1"/>
          <p:cNvSpPr txBox="1"/>
          <p:nvPr/>
        </p:nvSpPr>
        <p:spPr>
          <a:xfrm>
            <a:off x="640080" y="384048"/>
            <a:ext cx="10881360" cy="292608"/>
          </a:xfrm>
          <a:prstGeom prst="rect">
            <a:avLst/>
          </a:prstGeom>
          <a:noFill/>
          <a:ln/>
        </p:spPr>
        <p:txBody>
          <a:bodyPr wrap="square" lIns="0" tIns="0" rIns="0" bIns="0" rtlCol="0" anchor="ctr"/>
          <a:lstStyle/>
          <a:p>
            <a:pPr indent="0" marL="0">
              <a:buNone/>
            </a:pPr>
            <a:r>
              <a:rPr lang="en-US" sz="1300" b="1" spc="200" kern="0" dirty="0">
                <a:solidFill>
                  <a:srgbClr val="00549F"/>
                </a:solidFill>
                <a:latin typeface="Calibri" pitchFamily="34" charset="0"/>
                <a:ea typeface="Calibri" pitchFamily="34" charset="-122"/>
                <a:cs typeface="Calibri" pitchFamily="34" charset="-120"/>
              </a:rPr>
              <a:t>LA RÈGLE, UNE SEULE FOIS</a:t>
            </a:r>
            <a:endParaRPr lang="en-US" sz="1300" dirty="0"/>
          </a:p>
        </p:txBody>
      </p:sp>
      <p:sp>
        <p:nvSpPr>
          <p:cNvPr id="6" name="Text 2"/>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Votre mot de passe ne me regarde pas</a:t>
            </a:r>
            <a:endParaRPr lang="en-US" sz="3400" dirty="0"/>
          </a:p>
        </p:txBody>
      </p:sp>
      <p:sp>
        <p:nvSpPr>
          <p:cNvPr id="7" name="Shape 3"/>
          <p:cNvSpPr/>
          <p:nvPr/>
        </p:nvSpPr>
        <p:spPr>
          <a:xfrm>
            <a:off x="640080" y="1874520"/>
            <a:ext cx="10881360" cy="2788920"/>
          </a:xfrm>
          <a:prstGeom prst="roundRect">
            <a:avLst>
              <a:gd name="adj" fmla="val 4590"/>
            </a:avLst>
          </a:prstGeom>
          <a:solidFill>
            <a:srgbClr val="B71234"/>
          </a:solidFill>
          <a:ln w="12700">
            <a:solidFill>
              <a:srgbClr val="B71234"/>
            </a:solidFill>
            <a:prstDash val="solid"/>
          </a:ln>
        </p:spPr>
      </p:sp>
      <p:sp>
        <p:nvSpPr>
          <p:cNvPr id="8" name="Text 4"/>
          <p:cNvSpPr txBox="1"/>
          <p:nvPr/>
        </p:nvSpPr>
        <p:spPr>
          <a:xfrm>
            <a:off x="1051560" y="2148840"/>
            <a:ext cx="10058400" cy="2240280"/>
          </a:xfrm>
          <a:prstGeom prst="rect">
            <a:avLst/>
          </a:prstGeom>
          <a:noFill/>
          <a:ln/>
        </p:spPr>
        <p:txBody>
          <a:bodyPr wrap="square" lIns="0" tIns="0" rIns="0" bIns="0" rtlCol="0" anchor="ctr"/>
          <a:lstStyle/>
          <a:p>
            <a:pPr indent="0" marL="0">
              <a:lnSpc>
                <a:spcPts val="4600"/>
              </a:lnSpc>
              <a:buNone/>
            </a:pPr>
            <a:r>
              <a:rPr lang="en-US" sz="2700" b="1" dirty="0">
                <a:solidFill>
                  <a:srgbClr val="FFFFFF"/>
                </a:solidFill>
                <a:latin typeface="Cambria" pitchFamily="34" charset="0"/>
                <a:ea typeface="Cambria" pitchFamily="34" charset="-122"/>
                <a:cs typeface="Cambria" pitchFamily="34" charset="-120"/>
              </a:rPr>
              <a:t>Je ne vous le demanderai jamais.</a:t>
            </a:r>
            <a:endParaRPr lang="en-US" sz="2700" dirty="0"/>
          </a:p>
          <a:p>
            <a:pPr indent="0" marL="0">
              <a:lnSpc>
                <a:spcPts val="4600"/>
              </a:lnSpc>
              <a:buNone/>
            </a:pPr>
            <a:r>
              <a:rPr lang="en-US" sz="2700" b="1" dirty="0">
                <a:solidFill>
                  <a:srgbClr val="FFFFFF"/>
                </a:solidFill>
                <a:latin typeface="Cambria" pitchFamily="34" charset="0"/>
                <a:ea typeface="Cambria" pitchFamily="34" charset="-122"/>
                <a:cs typeface="Cambria" pitchFamily="34" charset="-120"/>
              </a:rPr>
              <a:t>Je ne le regarde pas, je ne le note pas, je ne le tape pas.</a:t>
            </a:r>
            <a:endParaRPr lang="en-US" sz="2700" dirty="0"/>
          </a:p>
          <a:p>
            <a:pPr indent="0" marL="0">
              <a:lnSpc>
                <a:spcPts val="4600"/>
              </a:lnSpc>
              <a:buNone/>
            </a:pPr>
            <a:r>
              <a:rPr lang="en-US" sz="2700" b="1" dirty="0">
                <a:solidFill>
                  <a:srgbClr val="FFFFFF"/>
                </a:solidFill>
                <a:latin typeface="Cambria" pitchFamily="34" charset="0"/>
                <a:ea typeface="Cambria" pitchFamily="34" charset="-122"/>
                <a:cs typeface="Cambria" pitchFamily="34" charset="-120"/>
              </a:rPr>
              <a:t>Si vous me le montrez par erreur, vous le changerez avant de sortir.</a:t>
            </a:r>
            <a:endParaRPr lang="en-US" sz="2700" dirty="0"/>
          </a:p>
        </p:txBody>
      </p:sp>
      <p:sp>
        <p:nvSpPr>
          <p:cNvPr id="9" name="Text 5"/>
          <p:cNvSpPr txBox="1"/>
          <p:nvPr/>
        </p:nvSpPr>
        <p:spPr>
          <a:xfrm>
            <a:off x="640080" y="4892040"/>
            <a:ext cx="10881360" cy="457200"/>
          </a:xfrm>
          <a:prstGeom prst="rect">
            <a:avLst/>
          </a:prstGeom>
          <a:noFill/>
          <a:ln/>
        </p:spPr>
        <p:txBody>
          <a:bodyPr wrap="square" lIns="0" tIns="0" rIns="0" bIns="0" rtlCol="0" anchor="ctr"/>
          <a:lstStyle/>
          <a:p>
            <a:pPr indent="0" marL="0">
              <a:buNone/>
            </a:pPr>
            <a:r>
              <a:rPr lang="en-US" sz="1700" i="1" dirty="0">
                <a:solidFill>
                  <a:srgbClr val="5A6672"/>
                </a:solidFill>
                <a:latin typeface="Calibri" pitchFamily="34" charset="0"/>
                <a:ea typeface="Calibri" pitchFamily="34" charset="-122"/>
                <a:cs typeface="Calibri" pitchFamily="34" charset="-120"/>
              </a:rPr>
              <a:t>Regardez le relevé que je tiens : il n'y a aucune colonne « mot de passe ».</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144768"/>
            <a:ext cx="457200" cy="457200"/>
          </a:xfrm>
          <a:prstGeom prst="rect">
            <a:avLst/>
          </a:prstGeom>
        </p:spPr>
      </p:pic>
      <p:pic>
        <p:nvPicPr>
          <p:cNvPr id="3" name="Image 1" descr="preencoded.png">    </p:cNvPr>
          <p:cNvPicPr>
            <a:picLocks noChangeAspect="1"/>
          </p:cNvPicPr>
          <p:nvPr/>
        </p:nvPicPr>
        <p:blipFill>
          <a:blip r:embed="rId2"/>
          <a:stretch>
            <a:fillRect/>
          </a:stretch>
        </p:blipFill>
        <p:spPr>
          <a:xfrm>
            <a:off x="10378440" y="6199632"/>
            <a:ext cx="1371600" cy="347472"/>
          </a:xfrm>
          <a:prstGeom prst="rect">
            <a:avLst/>
          </a:prstGeom>
        </p:spPr>
      </p:pic>
      <p:sp>
        <p:nvSpPr>
          <p:cNvPr id="4" name="Text 0"/>
          <p:cNvSpPr txBox="1"/>
          <p:nvPr/>
        </p:nvSpPr>
        <p:spPr>
          <a:xfrm>
            <a:off x="960120" y="6199632"/>
            <a:ext cx="5486400" cy="32918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Technologie · 3e · première séance</a:t>
            </a:r>
            <a:endParaRPr lang="en-US" sz="1000" dirty="0"/>
          </a:p>
        </p:txBody>
      </p:sp>
      <p:sp>
        <p:nvSpPr>
          <p:cNvPr id="5" name="Text 1"/>
          <p:cNvSpPr txBox="1"/>
          <p:nvPr/>
        </p:nvSpPr>
        <p:spPr>
          <a:xfrm>
            <a:off x="640080" y="384048"/>
            <a:ext cx="10881360" cy="292608"/>
          </a:xfrm>
          <a:prstGeom prst="rect">
            <a:avLst/>
          </a:prstGeom>
          <a:noFill/>
          <a:ln/>
        </p:spPr>
        <p:txBody>
          <a:bodyPr wrap="square" lIns="0" tIns="0" rIns="0" bIns="0" rtlCol="0" anchor="ctr"/>
          <a:lstStyle/>
          <a:p>
            <a:pPr indent="0" marL="0">
              <a:buNone/>
            </a:pPr>
            <a:r>
              <a:rPr lang="en-US" sz="1300" b="1" spc="200" kern="0" dirty="0">
                <a:solidFill>
                  <a:srgbClr val="00549F"/>
                </a:solidFill>
                <a:latin typeface="Calibri" pitchFamily="34" charset="0"/>
                <a:ea typeface="Calibri" pitchFamily="34" charset="-122"/>
                <a:cs typeface="Calibri" pitchFamily="34" charset="-120"/>
              </a:rPr>
              <a:t>AVANT DE TOUCHER AU CLAVIER</a:t>
            </a:r>
            <a:endParaRPr lang="en-US" sz="1300" dirty="0"/>
          </a:p>
        </p:txBody>
      </p:sp>
      <p:sp>
        <p:nvSpPr>
          <p:cNvPr id="6" name="Text 2"/>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Rituel poste propre</a:t>
            </a:r>
            <a:endParaRPr lang="en-US" sz="3400" dirty="0"/>
          </a:p>
        </p:txBody>
      </p:sp>
      <p:sp>
        <p:nvSpPr>
          <p:cNvPr id="7" name="Shape 3"/>
          <p:cNvSpPr/>
          <p:nvPr/>
        </p:nvSpPr>
        <p:spPr>
          <a:xfrm>
            <a:off x="640080" y="1691640"/>
            <a:ext cx="5349240" cy="2103120"/>
          </a:xfrm>
          <a:prstGeom prst="roundRect">
            <a:avLst>
              <a:gd name="adj" fmla="val 5217"/>
            </a:avLst>
          </a:prstGeom>
          <a:solidFill>
            <a:srgbClr val="E8F1FA"/>
          </a:solidFill>
          <a:ln w="12700">
            <a:solidFill>
              <a:srgbClr val="C7DDF2"/>
            </a:solidFill>
            <a:prstDash val="solid"/>
          </a:ln>
        </p:spPr>
      </p:sp>
      <p:sp>
        <p:nvSpPr>
          <p:cNvPr id="8" name="Shape 4"/>
          <p:cNvSpPr/>
          <p:nvPr/>
        </p:nvSpPr>
        <p:spPr>
          <a:xfrm>
            <a:off x="914400" y="1929384"/>
            <a:ext cx="502920" cy="502920"/>
          </a:xfrm>
          <a:prstGeom prst="ellipse">
            <a:avLst/>
          </a:prstGeom>
          <a:solidFill>
            <a:srgbClr val="00549F"/>
          </a:solidFill>
          <a:ln w="12700">
            <a:solidFill>
              <a:srgbClr val="00549F"/>
            </a:solidFill>
            <a:prstDash val="solid"/>
          </a:ln>
        </p:spPr>
      </p:sp>
      <p:sp>
        <p:nvSpPr>
          <p:cNvPr id="9" name="Text 5"/>
          <p:cNvSpPr txBox="1"/>
          <p:nvPr/>
        </p:nvSpPr>
        <p:spPr>
          <a:xfrm>
            <a:off x="914400" y="192938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10" name="Text 6"/>
          <p:cNvSpPr txBox="1"/>
          <p:nvPr/>
        </p:nvSpPr>
        <p:spPr>
          <a:xfrm>
            <a:off x="914400" y="2560320"/>
            <a:ext cx="4800600" cy="402336"/>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Ouvrez votre session</a:t>
            </a:r>
            <a:endParaRPr lang="en-US" sz="1900" dirty="0"/>
          </a:p>
        </p:txBody>
      </p:sp>
      <p:sp>
        <p:nvSpPr>
          <p:cNvPr id="11" name="Text 7"/>
          <p:cNvSpPr txBox="1"/>
          <p:nvPr/>
        </p:nvSpPr>
        <p:spPr>
          <a:xfrm>
            <a:off x="914400" y="3035808"/>
            <a:ext cx="4800600" cy="57607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Celle du poste, pas encore le navigateur.</a:t>
            </a:r>
            <a:endParaRPr lang="en-US" sz="1500" dirty="0"/>
          </a:p>
        </p:txBody>
      </p:sp>
      <p:sp>
        <p:nvSpPr>
          <p:cNvPr id="12" name="Shape 8"/>
          <p:cNvSpPr/>
          <p:nvPr/>
        </p:nvSpPr>
        <p:spPr>
          <a:xfrm>
            <a:off x="6172200" y="1691640"/>
            <a:ext cx="5349240" cy="2103120"/>
          </a:xfrm>
          <a:prstGeom prst="roundRect">
            <a:avLst>
              <a:gd name="adj" fmla="val 5217"/>
            </a:avLst>
          </a:prstGeom>
          <a:solidFill>
            <a:srgbClr val="E8F1FA"/>
          </a:solidFill>
          <a:ln w="12700">
            <a:solidFill>
              <a:srgbClr val="C7DDF2"/>
            </a:solidFill>
            <a:prstDash val="solid"/>
          </a:ln>
        </p:spPr>
      </p:sp>
      <p:sp>
        <p:nvSpPr>
          <p:cNvPr id="13" name="Shape 9"/>
          <p:cNvSpPr/>
          <p:nvPr/>
        </p:nvSpPr>
        <p:spPr>
          <a:xfrm>
            <a:off x="6446520" y="1929384"/>
            <a:ext cx="502920" cy="502920"/>
          </a:xfrm>
          <a:prstGeom prst="ellipse">
            <a:avLst/>
          </a:prstGeom>
          <a:solidFill>
            <a:srgbClr val="00549F"/>
          </a:solidFill>
          <a:ln w="12700">
            <a:solidFill>
              <a:srgbClr val="00549F"/>
            </a:solidFill>
            <a:prstDash val="solid"/>
          </a:ln>
        </p:spPr>
      </p:sp>
      <p:sp>
        <p:nvSpPr>
          <p:cNvPr id="14" name="Text 10"/>
          <p:cNvSpPr txBox="1"/>
          <p:nvPr/>
        </p:nvSpPr>
        <p:spPr>
          <a:xfrm>
            <a:off x="6446520" y="192938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5" name="Text 11"/>
          <p:cNvSpPr txBox="1"/>
          <p:nvPr/>
        </p:nvSpPr>
        <p:spPr>
          <a:xfrm>
            <a:off x="6446520" y="2560320"/>
            <a:ext cx="4800600" cy="402336"/>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Vérifiez le navigateur</a:t>
            </a:r>
            <a:endParaRPr lang="en-US" sz="1900" dirty="0"/>
          </a:p>
        </p:txBody>
      </p:sp>
      <p:sp>
        <p:nvSpPr>
          <p:cNvPr id="16" name="Text 12"/>
          <p:cNvSpPr txBox="1"/>
          <p:nvPr/>
        </p:nvSpPr>
        <p:spPr>
          <a:xfrm>
            <a:off x="6446520" y="3035808"/>
            <a:ext cx="4800600" cy="57607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Si un avatar apparaît en haut à droite : se déconnecter de tous les comptes.</a:t>
            </a:r>
            <a:endParaRPr lang="en-US" sz="1500" dirty="0"/>
          </a:p>
        </p:txBody>
      </p:sp>
      <p:sp>
        <p:nvSpPr>
          <p:cNvPr id="17" name="Shape 13"/>
          <p:cNvSpPr/>
          <p:nvPr/>
        </p:nvSpPr>
        <p:spPr>
          <a:xfrm>
            <a:off x="640080" y="3913632"/>
            <a:ext cx="5349240" cy="2103120"/>
          </a:xfrm>
          <a:prstGeom prst="roundRect">
            <a:avLst>
              <a:gd name="adj" fmla="val 5217"/>
            </a:avLst>
          </a:prstGeom>
          <a:solidFill>
            <a:srgbClr val="E8F1FA"/>
          </a:solidFill>
          <a:ln w="12700">
            <a:solidFill>
              <a:srgbClr val="C7DDF2"/>
            </a:solidFill>
            <a:prstDash val="solid"/>
          </a:ln>
        </p:spPr>
      </p:sp>
      <p:sp>
        <p:nvSpPr>
          <p:cNvPr id="18" name="Shape 14"/>
          <p:cNvSpPr/>
          <p:nvPr/>
        </p:nvSpPr>
        <p:spPr>
          <a:xfrm>
            <a:off x="914400" y="4151376"/>
            <a:ext cx="502920" cy="502920"/>
          </a:xfrm>
          <a:prstGeom prst="ellipse">
            <a:avLst/>
          </a:prstGeom>
          <a:solidFill>
            <a:srgbClr val="00549F"/>
          </a:solidFill>
          <a:ln w="12700">
            <a:solidFill>
              <a:srgbClr val="00549F"/>
            </a:solidFill>
            <a:prstDash val="solid"/>
          </a:ln>
        </p:spPr>
      </p:sp>
      <p:sp>
        <p:nvSpPr>
          <p:cNvPr id="19" name="Text 15"/>
          <p:cNvSpPr txBox="1"/>
          <p:nvPr/>
        </p:nvSpPr>
        <p:spPr>
          <a:xfrm>
            <a:off x="914400" y="4151376"/>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3</a:t>
            </a:r>
            <a:endParaRPr lang="en-US" sz="2100" dirty="0"/>
          </a:p>
        </p:txBody>
      </p:sp>
      <p:sp>
        <p:nvSpPr>
          <p:cNvPr id="20" name="Text 16"/>
          <p:cNvSpPr txBox="1"/>
          <p:nvPr/>
        </p:nvSpPr>
        <p:spPr>
          <a:xfrm>
            <a:off x="914400" y="4782312"/>
            <a:ext cx="4800600" cy="402336"/>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Fenêtre de navigation privée</a:t>
            </a:r>
            <a:endParaRPr lang="en-US" sz="1900" dirty="0"/>
          </a:p>
        </p:txBody>
      </p:sp>
      <p:sp>
        <p:nvSpPr>
          <p:cNvPr id="21" name="Text 17"/>
          <p:cNvSpPr txBox="1"/>
          <p:nvPr/>
        </p:nvSpPr>
        <p:spPr>
          <a:xfrm>
            <a:off x="914400" y="5257800"/>
            <a:ext cx="4800600" cy="57607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Tout ce qui touche à votre compte se fait là, sans exception.</a:t>
            </a:r>
            <a:endParaRPr lang="en-US" sz="1500" dirty="0"/>
          </a:p>
        </p:txBody>
      </p:sp>
      <p:sp>
        <p:nvSpPr>
          <p:cNvPr id="22" name="Shape 18"/>
          <p:cNvSpPr/>
          <p:nvPr/>
        </p:nvSpPr>
        <p:spPr>
          <a:xfrm>
            <a:off x="6172200" y="3913632"/>
            <a:ext cx="5349240" cy="2103120"/>
          </a:xfrm>
          <a:prstGeom prst="roundRect">
            <a:avLst>
              <a:gd name="adj" fmla="val 5217"/>
            </a:avLst>
          </a:prstGeom>
          <a:solidFill>
            <a:srgbClr val="E8F1FA"/>
          </a:solidFill>
          <a:ln w="12700">
            <a:solidFill>
              <a:srgbClr val="C7DDF2"/>
            </a:solidFill>
            <a:prstDash val="solid"/>
          </a:ln>
        </p:spPr>
      </p:sp>
      <p:sp>
        <p:nvSpPr>
          <p:cNvPr id="23" name="Shape 19"/>
          <p:cNvSpPr/>
          <p:nvPr/>
        </p:nvSpPr>
        <p:spPr>
          <a:xfrm>
            <a:off x="6446520" y="4151376"/>
            <a:ext cx="502920" cy="502920"/>
          </a:xfrm>
          <a:prstGeom prst="ellipse">
            <a:avLst/>
          </a:prstGeom>
          <a:solidFill>
            <a:srgbClr val="00549F"/>
          </a:solidFill>
          <a:ln w="12700">
            <a:solidFill>
              <a:srgbClr val="00549F"/>
            </a:solidFill>
            <a:prstDash val="solid"/>
          </a:ln>
        </p:spPr>
      </p:sp>
      <p:sp>
        <p:nvSpPr>
          <p:cNvPr id="24" name="Text 20"/>
          <p:cNvSpPr txBox="1"/>
          <p:nvPr/>
        </p:nvSpPr>
        <p:spPr>
          <a:xfrm>
            <a:off x="6446520" y="4151376"/>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4</a:t>
            </a:r>
            <a:endParaRPr lang="en-US" sz="2100" dirty="0"/>
          </a:p>
        </p:txBody>
      </p:sp>
      <p:sp>
        <p:nvSpPr>
          <p:cNvPr id="25" name="Text 21"/>
          <p:cNvSpPr txBox="1"/>
          <p:nvPr/>
        </p:nvSpPr>
        <p:spPr>
          <a:xfrm>
            <a:off x="6446520" y="4782312"/>
            <a:ext cx="4800600" cy="402336"/>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Pourquoi</a:t>
            </a:r>
            <a:endParaRPr lang="en-US" sz="1900" dirty="0"/>
          </a:p>
        </p:txBody>
      </p:sp>
      <p:sp>
        <p:nvSpPr>
          <p:cNvPr id="26" name="Text 22"/>
          <p:cNvSpPr txBox="1"/>
          <p:nvPr/>
        </p:nvSpPr>
        <p:spPr>
          <a:xfrm>
            <a:off x="6446520" y="5257800"/>
            <a:ext cx="4800600" cy="57607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En fermant la fenêtre, la session disparaît. Personne ne pourra écrire à votre place.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144768"/>
            <a:ext cx="457200" cy="457200"/>
          </a:xfrm>
          <a:prstGeom prst="rect">
            <a:avLst/>
          </a:prstGeom>
        </p:spPr>
      </p:pic>
      <p:pic>
        <p:nvPicPr>
          <p:cNvPr id="3" name="Image 1" descr="preencoded.png">    </p:cNvPr>
          <p:cNvPicPr>
            <a:picLocks noChangeAspect="1"/>
          </p:cNvPicPr>
          <p:nvPr/>
        </p:nvPicPr>
        <p:blipFill>
          <a:blip r:embed="rId2"/>
          <a:stretch>
            <a:fillRect/>
          </a:stretch>
        </p:blipFill>
        <p:spPr>
          <a:xfrm>
            <a:off x="10378440" y="6199632"/>
            <a:ext cx="1371600" cy="347472"/>
          </a:xfrm>
          <a:prstGeom prst="rect">
            <a:avLst/>
          </a:prstGeom>
        </p:spPr>
      </p:pic>
      <p:sp>
        <p:nvSpPr>
          <p:cNvPr id="4" name="Text 0"/>
          <p:cNvSpPr txBox="1"/>
          <p:nvPr/>
        </p:nvSpPr>
        <p:spPr>
          <a:xfrm>
            <a:off x="960120" y="6199632"/>
            <a:ext cx="5486400" cy="32918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Technologie · 3e · première séance</a:t>
            </a:r>
            <a:endParaRPr lang="en-US" sz="1000" dirty="0"/>
          </a:p>
        </p:txBody>
      </p:sp>
      <p:sp>
        <p:nvSpPr>
          <p:cNvPr id="5" name="Text 1"/>
          <p:cNvSpPr txBox="1"/>
          <p:nvPr/>
        </p:nvSpPr>
        <p:spPr>
          <a:xfrm>
            <a:off x="640080" y="384048"/>
            <a:ext cx="10881360" cy="292608"/>
          </a:xfrm>
          <a:prstGeom prst="rect">
            <a:avLst/>
          </a:prstGeom>
          <a:noFill/>
          <a:ln/>
        </p:spPr>
        <p:txBody>
          <a:bodyPr wrap="square" lIns="0" tIns="0" rIns="0" bIns="0" rtlCol="0" anchor="ctr"/>
          <a:lstStyle/>
          <a:p>
            <a:pPr indent="0" marL="0">
              <a:buNone/>
            </a:pPr>
            <a:r>
              <a:rPr lang="en-US" sz="1300" b="1" spc="200" kern="0" dirty="0">
                <a:solidFill>
                  <a:srgbClr val="00549F"/>
                </a:solidFill>
                <a:latin typeface="Calibri" pitchFamily="34" charset="0"/>
                <a:ea typeface="Calibri" pitchFamily="34" charset="-122"/>
                <a:cs typeface="Calibri" pitchFamily="34" charset="-120"/>
              </a:rPr>
              <a:t>LA PREUVE QUE VOTRE COMPTE MARCHE</a:t>
            </a:r>
            <a:endParaRPr lang="en-US" sz="1300" dirty="0"/>
          </a:p>
        </p:txBody>
      </p:sp>
      <p:sp>
        <p:nvSpPr>
          <p:cNvPr id="6" name="Text 2"/>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Envoyez-moi un courriel vide</a:t>
            </a:r>
            <a:endParaRPr lang="en-US" sz="3400" dirty="0"/>
          </a:p>
        </p:txBody>
      </p:sp>
      <p:sp>
        <p:nvSpPr>
          <p:cNvPr id="7" name="Text 3"/>
          <p:cNvSpPr txBox="1"/>
          <p:nvPr/>
        </p:nvSpPr>
        <p:spPr>
          <a:xfrm>
            <a:off x="640080" y="1920240"/>
            <a:ext cx="914400" cy="411480"/>
          </a:xfrm>
          <a:prstGeom prst="rect">
            <a:avLst/>
          </a:prstGeom>
          <a:noFill/>
          <a:ln/>
        </p:spPr>
        <p:txBody>
          <a:bodyPr wrap="square" lIns="0" tIns="0" rIns="0" bIns="0" rtlCol="0" anchor="ctr"/>
          <a:lstStyle/>
          <a:p>
            <a:pPr indent="0" marL="0">
              <a:buNone/>
            </a:pPr>
            <a:r>
              <a:rPr lang="en-US" sz="1700" b="1" dirty="0">
                <a:solidFill>
                  <a:srgbClr val="5A6672"/>
                </a:solidFill>
                <a:latin typeface="Calibri" pitchFamily="34" charset="0"/>
                <a:ea typeface="Calibri" pitchFamily="34" charset="-122"/>
                <a:cs typeface="Calibri" pitchFamily="34" charset="-120"/>
              </a:rPr>
              <a:t>À :</a:t>
            </a:r>
            <a:endParaRPr lang="en-US" sz="1700" dirty="0"/>
          </a:p>
        </p:txBody>
      </p:sp>
      <p:sp>
        <p:nvSpPr>
          <p:cNvPr id="8" name="Shape 4"/>
          <p:cNvSpPr/>
          <p:nvPr/>
        </p:nvSpPr>
        <p:spPr>
          <a:xfrm>
            <a:off x="1463040" y="1847088"/>
            <a:ext cx="10058400" cy="685800"/>
          </a:xfrm>
          <a:prstGeom prst="roundRect">
            <a:avLst>
              <a:gd name="adj" fmla="val 10667"/>
            </a:avLst>
          </a:prstGeom>
          <a:solidFill>
            <a:srgbClr val="E8F1FA"/>
          </a:solidFill>
          <a:ln w="12700">
            <a:solidFill>
              <a:srgbClr val="C7DDF2"/>
            </a:solidFill>
            <a:prstDash val="solid"/>
          </a:ln>
        </p:spPr>
      </p:sp>
      <p:sp>
        <p:nvSpPr>
          <p:cNvPr id="9" name="Text 5"/>
          <p:cNvSpPr txBox="1"/>
          <p:nvPr/>
        </p:nvSpPr>
        <p:spPr>
          <a:xfrm>
            <a:off x="1691640" y="1847088"/>
            <a:ext cx="9601200" cy="685800"/>
          </a:xfrm>
          <a:prstGeom prst="rect">
            <a:avLst/>
          </a:prstGeom>
          <a:noFill/>
          <a:ln/>
        </p:spPr>
        <p:txBody>
          <a:bodyPr wrap="square" lIns="0" tIns="0" rIns="0" bIns="0" rtlCol="0" anchor="ctr"/>
          <a:lstStyle/>
          <a:p>
            <a:pPr indent="0" marL="0">
              <a:buNone/>
            </a:pPr>
            <a:r>
              <a:rPr lang="en-US" sz="2000" i="1" dirty="0">
                <a:solidFill>
                  <a:srgbClr val="5A6672"/>
                </a:solidFill>
                <a:latin typeface="Calibri" pitchFamily="34" charset="0"/>
                <a:ea typeface="Calibri" pitchFamily="34" charset="-122"/>
                <a:cs typeface="Calibri" pitchFamily="34" charset="-120"/>
              </a:rPr>
              <a:t>l'adresse écrite au tableau</a:t>
            </a:r>
            <a:endParaRPr lang="en-US" sz="2000" dirty="0"/>
          </a:p>
        </p:txBody>
      </p:sp>
      <p:sp>
        <p:nvSpPr>
          <p:cNvPr id="10" name="Text 6"/>
          <p:cNvSpPr txBox="1"/>
          <p:nvPr/>
        </p:nvSpPr>
        <p:spPr>
          <a:xfrm>
            <a:off x="640080" y="2880360"/>
            <a:ext cx="1097280" cy="411480"/>
          </a:xfrm>
          <a:prstGeom prst="rect">
            <a:avLst/>
          </a:prstGeom>
          <a:noFill/>
          <a:ln/>
        </p:spPr>
        <p:txBody>
          <a:bodyPr wrap="square" lIns="0" tIns="0" rIns="0" bIns="0" rtlCol="0" anchor="ctr"/>
          <a:lstStyle/>
          <a:p>
            <a:pPr indent="0" marL="0">
              <a:buNone/>
            </a:pPr>
            <a:r>
              <a:rPr lang="en-US" sz="1700" b="1" dirty="0">
                <a:solidFill>
                  <a:srgbClr val="5A6672"/>
                </a:solidFill>
                <a:latin typeface="Calibri" pitchFamily="34" charset="0"/>
                <a:ea typeface="Calibri" pitchFamily="34" charset="-122"/>
                <a:cs typeface="Calibri" pitchFamily="34" charset="-120"/>
              </a:rPr>
              <a:t>Objet :</a:t>
            </a:r>
            <a:endParaRPr lang="en-US" sz="1700" dirty="0"/>
          </a:p>
        </p:txBody>
      </p:sp>
      <p:sp>
        <p:nvSpPr>
          <p:cNvPr id="11" name="Shape 7"/>
          <p:cNvSpPr/>
          <p:nvPr/>
        </p:nvSpPr>
        <p:spPr>
          <a:xfrm>
            <a:off x="1463040" y="2743200"/>
            <a:ext cx="10058400" cy="1143000"/>
          </a:xfrm>
          <a:prstGeom prst="roundRect">
            <a:avLst>
              <a:gd name="adj" fmla="val 6400"/>
            </a:avLst>
          </a:prstGeom>
          <a:solidFill>
            <a:srgbClr val="00304F"/>
          </a:solidFill>
          <a:ln w="12700">
            <a:solidFill>
              <a:srgbClr val="00304F"/>
            </a:solidFill>
            <a:prstDash val="solid"/>
          </a:ln>
        </p:spPr>
      </p:sp>
      <p:sp>
        <p:nvSpPr>
          <p:cNvPr id="12" name="Text 8"/>
          <p:cNvSpPr txBox="1"/>
          <p:nvPr/>
        </p:nvSpPr>
        <p:spPr>
          <a:xfrm>
            <a:off x="1691640" y="2743200"/>
            <a:ext cx="9601200" cy="1143000"/>
          </a:xfrm>
          <a:prstGeom prst="rect">
            <a:avLst/>
          </a:prstGeom>
          <a:noFill/>
          <a:ln/>
        </p:spPr>
        <p:txBody>
          <a:bodyPr wrap="square" lIns="0" tIns="0" rIns="0" bIns="0" rtlCol="0" anchor="ctr"/>
          <a:lstStyle/>
          <a:p>
            <a:pPr indent="0" marL="0">
              <a:buNone/>
            </a:pPr>
            <a:r>
              <a:rPr lang="en-US" sz="3000" b="1" dirty="0">
                <a:solidFill>
                  <a:srgbClr val="FFFFFF"/>
                </a:solidFill>
                <a:latin typeface="Courier New" pitchFamily="34" charset="0"/>
                <a:ea typeface="Courier New" pitchFamily="34" charset="-122"/>
                <a:cs typeface="Courier New" pitchFamily="34" charset="-120"/>
              </a:rPr>
              <a:t>TEST17  NOM  Prénom  poste N</a:t>
            </a:r>
            <a:endParaRPr lang="en-US" sz="3000" dirty="0"/>
          </a:p>
        </p:txBody>
      </p:sp>
      <p:sp>
        <p:nvSpPr>
          <p:cNvPr id="13" name="Text 9"/>
          <p:cNvSpPr txBox="1"/>
          <p:nvPr/>
        </p:nvSpPr>
        <p:spPr>
          <a:xfrm>
            <a:off x="640080" y="4206240"/>
            <a:ext cx="10881360" cy="1005840"/>
          </a:xfrm>
          <a:prstGeom prst="rect">
            <a:avLst/>
          </a:prstGeom>
          <a:noFill/>
          <a:ln/>
        </p:spPr>
        <p:txBody>
          <a:bodyPr wrap="square" lIns="0" tIns="0" rIns="0" bIns="0" rtlCol="0" anchor="ctr"/>
          <a:lstStyle/>
          <a:p>
            <a:pPr indent="0" marL="0">
              <a:lnSpc>
                <a:spcPts val="2600"/>
              </a:lnSpc>
              <a:buNone/>
            </a:pPr>
            <a:r>
              <a:rPr lang="en-US" sz="1700" b="1" dirty="0">
                <a:solidFill>
                  <a:srgbClr val="2E3F4D"/>
                </a:solidFill>
                <a:latin typeface="Calibri" pitchFamily="34" charset="0"/>
                <a:ea typeface="Calibri" pitchFamily="34" charset="-122"/>
                <a:cs typeface="Calibri" pitchFamily="34" charset="-120"/>
              </a:rPr>
              <a:t>Le message reste vide. </a:t>
            </a:r>
            <a:pPr indent="0" marL="0">
              <a:lnSpc>
                <a:spcPts val="2600"/>
              </a:lnSpc>
              <a:buNone/>
            </a:pPr>
            <a:r>
              <a:rPr lang="en-US" sz="1700" dirty="0">
                <a:solidFill>
                  <a:srgbClr val="2E3F4D"/>
                </a:solidFill>
                <a:latin typeface="Calibri" pitchFamily="34" charset="0"/>
                <a:ea typeface="Calibri" pitchFamily="34" charset="-122"/>
                <a:cs typeface="Calibri" pitchFamily="34" charset="-120"/>
              </a:rPr>
              <a:t>Ce courriel prouve trois choses d'un coup : que votre compte s'ouvre, que votre adresse est la bonne, et que vous savez m'envoyer un travail.</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144768"/>
            <a:ext cx="457200" cy="457200"/>
          </a:xfrm>
          <a:prstGeom prst="rect">
            <a:avLst/>
          </a:prstGeom>
        </p:spPr>
      </p:pic>
      <p:pic>
        <p:nvPicPr>
          <p:cNvPr id="3" name="Image 1" descr="preencoded.png">    </p:cNvPr>
          <p:cNvPicPr>
            <a:picLocks noChangeAspect="1"/>
          </p:cNvPicPr>
          <p:nvPr/>
        </p:nvPicPr>
        <p:blipFill>
          <a:blip r:embed="rId2"/>
          <a:stretch>
            <a:fillRect/>
          </a:stretch>
        </p:blipFill>
        <p:spPr>
          <a:xfrm>
            <a:off x="10378440" y="6199632"/>
            <a:ext cx="1371600" cy="347472"/>
          </a:xfrm>
          <a:prstGeom prst="rect">
            <a:avLst/>
          </a:prstGeom>
        </p:spPr>
      </p:pic>
      <p:sp>
        <p:nvSpPr>
          <p:cNvPr id="4" name="Text 0"/>
          <p:cNvSpPr txBox="1"/>
          <p:nvPr/>
        </p:nvSpPr>
        <p:spPr>
          <a:xfrm>
            <a:off x="960120" y="6199632"/>
            <a:ext cx="5486400" cy="32918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Technologie · 3e · première séance</a:t>
            </a:r>
            <a:endParaRPr lang="en-US" sz="1000" dirty="0"/>
          </a:p>
        </p:txBody>
      </p:sp>
      <p:sp>
        <p:nvSpPr>
          <p:cNvPr id="5" name="Text 1"/>
          <p:cNvSpPr txBox="1"/>
          <p:nvPr/>
        </p:nvSpPr>
        <p:spPr>
          <a:xfrm>
            <a:off x="640080" y="384048"/>
            <a:ext cx="10881360" cy="292608"/>
          </a:xfrm>
          <a:prstGeom prst="rect">
            <a:avLst/>
          </a:prstGeom>
          <a:noFill/>
          <a:ln/>
        </p:spPr>
        <p:txBody>
          <a:bodyPr wrap="square" lIns="0" tIns="0" rIns="0" bIns="0" rtlCol="0" anchor="ctr"/>
          <a:lstStyle/>
          <a:p>
            <a:pPr indent="0" marL="0">
              <a:buNone/>
            </a:pPr>
            <a:r>
              <a:rPr lang="en-US" sz="1300" b="1" spc="200" kern="0" dirty="0">
                <a:solidFill>
                  <a:srgbClr val="00549F"/>
                </a:solidFill>
                <a:latin typeface="Calibri" pitchFamily="34" charset="0"/>
                <a:ea typeface="Calibri" pitchFamily="34" charset="-122"/>
                <a:cs typeface="Calibri" pitchFamily="34" charset="-120"/>
              </a:rPr>
              <a:t>LES DEUX TOURS DE CONNEXION</a:t>
            </a:r>
            <a:endParaRPr lang="en-US" sz="1300" dirty="0"/>
          </a:p>
        </p:txBody>
      </p:sp>
      <p:sp>
        <p:nvSpPr>
          <p:cNvPr id="6" name="Text 2"/>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Un seul à la fois</a:t>
            </a:r>
            <a:endParaRPr lang="en-US" sz="3400" dirty="0"/>
          </a:p>
        </p:txBody>
      </p:sp>
      <p:sp>
        <p:nvSpPr>
          <p:cNvPr id="7" name="Shape 3"/>
          <p:cNvSpPr/>
          <p:nvPr/>
        </p:nvSpPr>
        <p:spPr>
          <a:xfrm>
            <a:off x="640080" y="1828800"/>
            <a:ext cx="5349240" cy="2286000"/>
          </a:xfrm>
          <a:prstGeom prst="roundRect">
            <a:avLst>
              <a:gd name="adj" fmla="val 4800"/>
            </a:avLst>
          </a:prstGeom>
          <a:solidFill>
            <a:srgbClr val="E8F1FA"/>
          </a:solidFill>
          <a:ln w="12700">
            <a:solidFill>
              <a:srgbClr val="C7DDF2"/>
            </a:solidFill>
            <a:prstDash val="solid"/>
          </a:ln>
        </p:spPr>
      </p:sp>
      <p:sp>
        <p:nvSpPr>
          <p:cNvPr id="8" name="Shape 4"/>
          <p:cNvSpPr/>
          <p:nvPr/>
        </p:nvSpPr>
        <p:spPr>
          <a:xfrm>
            <a:off x="914400" y="2066544"/>
            <a:ext cx="502920" cy="502920"/>
          </a:xfrm>
          <a:prstGeom prst="ellipse">
            <a:avLst/>
          </a:prstGeom>
          <a:solidFill>
            <a:srgbClr val="00549F"/>
          </a:solidFill>
          <a:ln w="12700">
            <a:solidFill>
              <a:srgbClr val="00549F"/>
            </a:solidFill>
            <a:prstDash val="solid"/>
          </a:ln>
        </p:spPr>
      </p:sp>
      <p:sp>
        <p:nvSpPr>
          <p:cNvPr id="9" name="Text 5"/>
          <p:cNvSpPr txBox="1"/>
          <p:nvPr/>
        </p:nvSpPr>
        <p:spPr>
          <a:xfrm>
            <a:off x="914400" y="206654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10" name="Text 6"/>
          <p:cNvSpPr txBox="1"/>
          <p:nvPr/>
        </p:nvSpPr>
        <p:spPr>
          <a:xfrm>
            <a:off x="914400" y="2697480"/>
            <a:ext cx="4800600" cy="402336"/>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Élève A se connecte</a:t>
            </a:r>
            <a:endParaRPr lang="en-US" sz="1900" dirty="0"/>
          </a:p>
        </p:txBody>
      </p:sp>
      <p:sp>
        <p:nvSpPr>
          <p:cNvPr id="11" name="Text 7"/>
          <p:cNvSpPr txBox="1"/>
          <p:nvPr/>
        </p:nvSpPr>
        <p:spPr>
          <a:xfrm>
            <a:off x="914400" y="3172968"/>
            <a:ext cx="4800600" cy="75895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3 minutes. L'élève B recule d'un pas et remplit sa feuille B au crayon.</a:t>
            </a:r>
            <a:endParaRPr lang="en-US" sz="1500" dirty="0"/>
          </a:p>
        </p:txBody>
      </p:sp>
      <p:sp>
        <p:nvSpPr>
          <p:cNvPr id="12" name="Shape 8"/>
          <p:cNvSpPr/>
          <p:nvPr/>
        </p:nvSpPr>
        <p:spPr>
          <a:xfrm>
            <a:off x="6172200" y="1828800"/>
            <a:ext cx="5349240" cy="2286000"/>
          </a:xfrm>
          <a:prstGeom prst="roundRect">
            <a:avLst>
              <a:gd name="adj" fmla="val 4800"/>
            </a:avLst>
          </a:prstGeom>
          <a:solidFill>
            <a:srgbClr val="E8F1FA"/>
          </a:solidFill>
          <a:ln w="12700">
            <a:solidFill>
              <a:srgbClr val="C7DDF2"/>
            </a:solidFill>
            <a:prstDash val="solid"/>
          </a:ln>
        </p:spPr>
      </p:sp>
      <p:sp>
        <p:nvSpPr>
          <p:cNvPr id="13" name="Shape 9"/>
          <p:cNvSpPr/>
          <p:nvPr/>
        </p:nvSpPr>
        <p:spPr>
          <a:xfrm>
            <a:off x="6446520" y="2066544"/>
            <a:ext cx="502920" cy="502920"/>
          </a:xfrm>
          <a:prstGeom prst="ellipse">
            <a:avLst/>
          </a:prstGeom>
          <a:solidFill>
            <a:srgbClr val="00549F"/>
          </a:solidFill>
          <a:ln w="12700">
            <a:solidFill>
              <a:srgbClr val="00549F"/>
            </a:solidFill>
            <a:prstDash val="solid"/>
          </a:ln>
        </p:spPr>
      </p:sp>
      <p:sp>
        <p:nvSpPr>
          <p:cNvPr id="14" name="Text 10"/>
          <p:cNvSpPr txBox="1"/>
          <p:nvPr/>
        </p:nvSpPr>
        <p:spPr>
          <a:xfrm>
            <a:off x="6446520" y="206654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5" name="Text 11"/>
          <p:cNvSpPr txBox="1"/>
          <p:nvPr/>
        </p:nvSpPr>
        <p:spPr>
          <a:xfrm>
            <a:off x="6446520" y="2697480"/>
            <a:ext cx="4800600" cy="402336"/>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Élève B se connecte</a:t>
            </a:r>
            <a:endParaRPr lang="en-US" sz="1900" dirty="0"/>
          </a:p>
        </p:txBody>
      </p:sp>
      <p:sp>
        <p:nvSpPr>
          <p:cNvPr id="16" name="Text 12"/>
          <p:cNvSpPr txBox="1"/>
          <p:nvPr/>
        </p:nvSpPr>
        <p:spPr>
          <a:xfrm>
            <a:off x="6446520" y="3172968"/>
            <a:ext cx="4800600" cy="75895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3 minutes. L'élève A remplit sa feuille B.</a:t>
            </a:r>
            <a:endParaRPr lang="en-US" sz="1500" dirty="0"/>
          </a:p>
        </p:txBody>
      </p:sp>
      <p:sp>
        <p:nvSpPr>
          <p:cNvPr id="17" name="Shape 13"/>
          <p:cNvSpPr/>
          <p:nvPr/>
        </p:nvSpPr>
        <p:spPr>
          <a:xfrm>
            <a:off x="640080" y="4343400"/>
            <a:ext cx="10881360" cy="1143000"/>
          </a:xfrm>
          <a:prstGeom prst="roundRect">
            <a:avLst>
              <a:gd name="adj" fmla="val 9600"/>
            </a:avLst>
          </a:prstGeom>
          <a:solidFill>
            <a:srgbClr val="FBE9EC"/>
          </a:solidFill>
          <a:ln w="19050">
            <a:solidFill>
              <a:srgbClr val="B71234"/>
            </a:solidFill>
            <a:prstDash val="solid"/>
          </a:ln>
        </p:spPr>
      </p:sp>
      <p:sp>
        <p:nvSpPr>
          <p:cNvPr id="18" name="Text 14"/>
          <p:cNvSpPr txBox="1"/>
          <p:nvPr/>
        </p:nvSpPr>
        <p:spPr>
          <a:xfrm>
            <a:off x="960120" y="4343400"/>
            <a:ext cx="10241280" cy="1143000"/>
          </a:xfrm>
          <a:prstGeom prst="rect">
            <a:avLst/>
          </a:prstGeom>
          <a:noFill/>
          <a:ln/>
        </p:spPr>
        <p:txBody>
          <a:bodyPr wrap="square" lIns="0" tIns="0" rIns="0" bIns="0" rtlCol="0" anchor="ctr"/>
          <a:lstStyle/>
          <a:p>
            <a:pPr indent="0" marL="0">
              <a:buNone/>
            </a:pPr>
            <a:r>
              <a:rPr lang="en-US" sz="2000" b="1" dirty="0">
                <a:solidFill>
                  <a:srgbClr val="7E0C22"/>
                </a:solidFill>
                <a:latin typeface="Cambria" pitchFamily="34" charset="0"/>
                <a:ea typeface="Cambria" pitchFamily="34" charset="-122"/>
                <a:cs typeface="Cambria" pitchFamily="34" charset="-120"/>
              </a:rPr>
              <a:t>Personne ne se connecte à la place de personne. L'expéditeur du courriel doit être l'élève lui-même.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144768"/>
            <a:ext cx="457200" cy="457200"/>
          </a:xfrm>
          <a:prstGeom prst="rect">
            <a:avLst/>
          </a:prstGeom>
        </p:spPr>
      </p:pic>
      <p:pic>
        <p:nvPicPr>
          <p:cNvPr id="3" name="Image 1" descr="preencoded.png">    </p:cNvPr>
          <p:cNvPicPr>
            <a:picLocks noChangeAspect="1"/>
          </p:cNvPicPr>
          <p:nvPr/>
        </p:nvPicPr>
        <p:blipFill>
          <a:blip r:embed="rId2"/>
          <a:stretch>
            <a:fillRect/>
          </a:stretch>
        </p:blipFill>
        <p:spPr>
          <a:xfrm>
            <a:off x="10378440" y="6199632"/>
            <a:ext cx="1371600" cy="347472"/>
          </a:xfrm>
          <a:prstGeom prst="rect">
            <a:avLst/>
          </a:prstGeom>
        </p:spPr>
      </p:pic>
      <p:sp>
        <p:nvSpPr>
          <p:cNvPr id="4" name="Text 0"/>
          <p:cNvSpPr txBox="1"/>
          <p:nvPr/>
        </p:nvSpPr>
        <p:spPr>
          <a:xfrm>
            <a:off x="960120" y="6199632"/>
            <a:ext cx="5486400" cy="32918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Technologie · 3e · première séance</a:t>
            </a:r>
            <a:endParaRPr lang="en-US" sz="1000" dirty="0"/>
          </a:p>
        </p:txBody>
      </p:sp>
      <p:sp>
        <p:nvSpPr>
          <p:cNvPr id="5" name="Text 1"/>
          <p:cNvSpPr txBox="1"/>
          <p:nvPr/>
        </p:nvSpPr>
        <p:spPr>
          <a:xfrm>
            <a:off x="640080" y="384048"/>
            <a:ext cx="10881360" cy="292608"/>
          </a:xfrm>
          <a:prstGeom prst="rect">
            <a:avLst/>
          </a:prstGeom>
          <a:noFill/>
          <a:ln/>
        </p:spPr>
        <p:txBody>
          <a:bodyPr wrap="square" lIns="0" tIns="0" rIns="0" bIns="0" rtlCol="0" anchor="ctr"/>
          <a:lstStyle/>
          <a:p>
            <a:pPr indent="0" marL="0">
              <a:buNone/>
            </a:pPr>
            <a:r>
              <a:rPr lang="en-US" sz="1300" b="1" spc="200" kern="0" dirty="0">
                <a:solidFill>
                  <a:srgbClr val="00549F"/>
                </a:solidFill>
                <a:latin typeface="Calibri" pitchFamily="34" charset="0"/>
                <a:ea typeface="Calibri" pitchFamily="34" charset="-122"/>
                <a:cs typeface="Calibri" pitchFamily="34" charset="-120"/>
              </a:rPr>
              <a:t>L'ÉVALUATION DIAGNOSTIQUE</a:t>
            </a:r>
            <a:endParaRPr lang="en-US" sz="1300" dirty="0"/>
          </a:p>
        </p:txBody>
      </p:sp>
      <p:sp>
        <p:nvSpPr>
          <p:cNvPr id="6" name="Text 2"/>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Ce n'est pas un contrôle</a:t>
            </a:r>
            <a:endParaRPr lang="en-US" sz="3400" dirty="0"/>
          </a:p>
        </p:txBody>
      </p:sp>
      <p:sp>
        <p:nvSpPr>
          <p:cNvPr id="7" name="Shape 3"/>
          <p:cNvSpPr/>
          <p:nvPr/>
        </p:nvSpPr>
        <p:spPr>
          <a:xfrm>
            <a:off x="640080" y="1737360"/>
            <a:ext cx="3520440" cy="2377440"/>
          </a:xfrm>
          <a:prstGeom prst="roundRect">
            <a:avLst>
              <a:gd name="adj" fmla="val 4615"/>
            </a:avLst>
          </a:prstGeom>
          <a:solidFill>
            <a:srgbClr val="E8F1FA"/>
          </a:solidFill>
          <a:ln w="12700">
            <a:solidFill>
              <a:srgbClr val="C7DDF2"/>
            </a:solidFill>
            <a:prstDash val="solid"/>
          </a:ln>
        </p:spPr>
      </p:sp>
      <p:sp>
        <p:nvSpPr>
          <p:cNvPr id="8" name="Shape 4"/>
          <p:cNvSpPr/>
          <p:nvPr/>
        </p:nvSpPr>
        <p:spPr>
          <a:xfrm>
            <a:off x="914400" y="1975104"/>
            <a:ext cx="502920" cy="502920"/>
          </a:xfrm>
          <a:prstGeom prst="ellipse">
            <a:avLst/>
          </a:prstGeom>
          <a:solidFill>
            <a:srgbClr val="00549F"/>
          </a:solidFill>
          <a:ln w="12700">
            <a:solidFill>
              <a:srgbClr val="00549F"/>
            </a:solidFill>
            <a:prstDash val="solid"/>
          </a:ln>
        </p:spPr>
      </p:sp>
      <p:sp>
        <p:nvSpPr>
          <p:cNvPr id="9" name="Text 5"/>
          <p:cNvSpPr txBox="1"/>
          <p:nvPr/>
        </p:nvSpPr>
        <p:spPr>
          <a:xfrm>
            <a:off x="914400" y="197510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10" name="Text 6"/>
          <p:cNvSpPr txBox="1"/>
          <p:nvPr/>
        </p:nvSpPr>
        <p:spPr>
          <a:xfrm>
            <a:off x="914400" y="2606040"/>
            <a:ext cx="2971800" cy="402336"/>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Pas de note</a:t>
            </a:r>
            <a:endParaRPr lang="en-US" sz="1700" dirty="0"/>
          </a:p>
        </p:txBody>
      </p:sp>
      <p:sp>
        <p:nvSpPr>
          <p:cNvPr id="11" name="Text 7"/>
          <p:cNvSpPr txBox="1"/>
          <p:nvPr/>
        </p:nvSpPr>
        <p:spPr>
          <a:xfrm>
            <a:off x="914400" y="3081528"/>
            <a:ext cx="2971800" cy="85039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Ce travail ne compte pas dans votre moyenne. Il me sert à préparer l'année.</a:t>
            </a:r>
            <a:endParaRPr lang="en-US" sz="1500" dirty="0"/>
          </a:p>
        </p:txBody>
      </p:sp>
      <p:sp>
        <p:nvSpPr>
          <p:cNvPr id="12" name="Shape 8"/>
          <p:cNvSpPr/>
          <p:nvPr/>
        </p:nvSpPr>
        <p:spPr>
          <a:xfrm>
            <a:off x="4343400" y="1737360"/>
            <a:ext cx="3520440" cy="2377440"/>
          </a:xfrm>
          <a:prstGeom prst="roundRect">
            <a:avLst>
              <a:gd name="adj" fmla="val 4615"/>
            </a:avLst>
          </a:prstGeom>
          <a:solidFill>
            <a:srgbClr val="E8F1FA"/>
          </a:solidFill>
          <a:ln w="12700">
            <a:solidFill>
              <a:srgbClr val="C7DDF2"/>
            </a:solidFill>
            <a:prstDash val="solid"/>
          </a:ln>
        </p:spPr>
      </p:sp>
      <p:sp>
        <p:nvSpPr>
          <p:cNvPr id="13" name="Shape 9"/>
          <p:cNvSpPr/>
          <p:nvPr/>
        </p:nvSpPr>
        <p:spPr>
          <a:xfrm>
            <a:off x="4617720" y="1975104"/>
            <a:ext cx="502920" cy="502920"/>
          </a:xfrm>
          <a:prstGeom prst="ellipse">
            <a:avLst/>
          </a:prstGeom>
          <a:solidFill>
            <a:srgbClr val="00549F"/>
          </a:solidFill>
          <a:ln w="12700">
            <a:solidFill>
              <a:srgbClr val="00549F"/>
            </a:solidFill>
            <a:prstDash val="solid"/>
          </a:ln>
        </p:spPr>
      </p:sp>
      <p:sp>
        <p:nvSpPr>
          <p:cNvPr id="14" name="Text 10"/>
          <p:cNvSpPr txBox="1"/>
          <p:nvPr/>
        </p:nvSpPr>
        <p:spPr>
          <a:xfrm>
            <a:off x="4617720" y="197510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5" name="Text 11"/>
          <p:cNvSpPr txBox="1"/>
          <p:nvPr/>
        </p:nvSpPr>
        <p:spPr>
          <a:xfrm>
            <a:off x="4617720" y="2606040"/>
            <a:ext cx="2971800" cy="402336"/>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À deux</a:t>
            </a:r>
            <a:endParaRPr lang="en-US" sz="1700" dirty="0"/>
          </a:p>
        </p:txBody>
      </p:sp>
      <p:sp>
        <p:nvSpPr>
          <p:cNvPr id="16" name="Text 12"/>
          <p:cNvSpPr txBox="1"/>
          <p:nvPr/>
        </p:nvSpPr>
        <p:spPr>
          <a:xfrm>
            <a:off x="4617720" y="3081528"/>
            <a:ext cx="2971800" cy="85039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Discutez, puis mettez-vous d'accord sur une seule réponse.</a:t>
            </a:r>
            <a:endParaRPr lang="en-US" sz="1500" dirty="0"/>
          </a:p>
        </p:txBody>
      </p:sp>
      <p:sp>
        <p:nvSpPr>
          <p:cNvPr id="17" name="Shape 13"/>
          <p:cNvSpPr/>
          <p:nvPr/>
        </p:nvSpPr>
        <p:spPr>
          <a:xfrm>
            <a:off x="8046720" y="1737360"/>
            <a:ext cx="3520440" cy="2377440"/>
          </a:xfrm>
          <a:prstGeom prst="roundRect">
            <a:avLst>
              <a:gd name="adj" fmla="val 4615"/>
            </a:avLst>
          </a:prstGeom>
          <a:solidFill>
            <a:srgbClr val="E8F1FA"/>
          </a:solidFill>
          <a:ln w="12700">
            <a:solidFill>
              <a:srgbClr val="C7DDF2"/>
            </a:solidFill>
            <a:prstDash val="solid"/>
          </a:ln>
        </p:spPr>
      </p:sp>
      <p:sp>
        <p:nvSpPr>
          <p:cNvPr id="18" name="Shape 14"/>
          <p:cNvSpPr/>
          <p:nvPr/>
        </p:nvSpPr>
        <p:spPr>
          <a:xfrm>
            <a:off x="8321040" y="1975104"/>
            <a:ext cx="502920" cy="502920"/>
          </a:xfrm>
          <a:prstGeom prst="ellipse">
            <a:avLst/>
          </a:prstGeom>
          <a:solidFill>
            <a:srgbClr val="00549F"/>
          </a:solidFill>
          <a:ln w="12700">
            <a:solidFill>
              <a:srgbClr val="00549F"/>
            </a:solidFill>
            <a:prstDash val="solid"/>
          </a:ln>
        </p:spPr>
      </p:sp>
      <p:sp>
        <p:nvSpPr>
          <p:cNvPr id="19" name="Text 15"/>
          <p:cNvSpPr txBox="1"/>
          <p:nvPr/>
        </p:nvSpPr>
        <p:spPr>
          <a:xfrm>
            <a:off x="8321040" y="197510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3</a:t>
            </a:r>
            <a:endParaRPr lang="en-US" sz="2100" dirty="0"/>
          </a:p>
        </p:txBody>
      </p:sp>
      <p:sp>
        <p:nvSpPr>
          <p:cNvPr id="20" name="Text 16"/>
          <p:cNvSpPr txBox="1"/>
          <p:nvPr/>
        </p:nvSpPr>
        <p:spPr>
          <a:xfrm>
            <a:off x="8321040" y="2606040"/>
            <a:ext cx="2971800" cy="402336"/>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Sans finir</a:t>
            </a:r>
            <a:endParaRPr lang="en-US" sz="1700" dirty="0"/>
          </a:p>
        </p:txBody>
      </p:sp>
      <p:sp>
        <p:nvSpPr>
          <p:cNvPr id="21" name="Text 17"/>
          <p:cNvSpPr txBox="1"/>
          <p:nvPr/>
        </p:nvSpPr>
        <p:spPr>
          <a:xfrm>
            <a:off x="8321040" y="3081528"/>
            <a:ext cx="2971800" cy="85039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Vous n'êtes pas obligés de tout faire. « Nous ne savons pas » est une vraie réponse.</a:t>
            </a:r>
            <a:endParaRPr lang="en-US" sz="1500" dirty="0"/>
          </a:p>
        </p:txBody>
      </p:sp>
      <p:sp>
        <p:nvSpPr>
          <p:cNvPr id="22" name="Shape 18"/>
          <p:cNvSpPr/>
          <p:nvPr/>
        </p:nvSpPr>
        <p:spPr>
          <a:xfrm>
            <a:off x="640080" y="4343400"/>
            <a:ext cx="10881360" cy="1280160"/>
          </a:xfrm>
          <a:prstGeom prst="roundRect">
            <a:avLst>
              <a:gd name="adj" fmla="val 8571"/>
            </a:avLst>
          </a:prstGeom>
          <a:solidFill>
            <a:srgbClr val="E8F1FA"/>
          </a:solidFill>
          <a:ln w="12700">
            <a:solidFill>
              <a:srgbClr val="C7DDF2"/>
            </a:solidFill>
            <a:prstDash val="solid"/>
          </a:ln>
        </p:spPr>
      </p:sp>
      <p:sp>
        <p:nvSpPr>
          <p:cNvPr id="23" name="Text 19"/>
          <p:cNvSpPr txBox="1"/>
          <p:nvPr/>
        </p:nvSpPr>
        <p:spPr>
          <a:xfrm>
            <a:off x="960120" y="4343400"/>
            <a:ext cx="10241280" cy="1280160"/>
          </a:xfrm>
          <a:prstGeom prst="rect">
            <a:avLst/>
          </a:prstGeom>
          <a:noFill/>
          <a:ln/>
        </p:spPr>
        <p:txBody>
          <a:bodyPr wrap="square" lIns="0" tIns="0" rIns="0" bIns="0" rtlCol="0" anchor="ctr"/>
          <a:lstStyle/>
          <a:p>
            <a:pPr indent="0" marL="0">
              <a:lnSpc>
                <a:spcPts val="2600"/>
              </a:lnSpc>
              <a:buNone/>
            </a:pPr>
            <a:r>
              <a:rPr lang="en-US" sz="1800" b="1" dirty="0">
                <a:solidFill>
                  <a:srgbClr val="2E3F4D"/>
                </a:solidFill>
                <a:latin typeface="Calibri" pitchFamily="34" charset="0"/>
                <a:ea typeface="Calibri" pitchFamily="34" charset="-122"/>
                <a:cs typeface="Calibri" pitchFamily="34" charset="-120"/>
              </a:rPr>
              <a:t>Écrivez d'abord vos deux NOMS en haut de la page.</a:t>
            </a:r>
            <a:endParaRPr lang="en-US" sz="1800" dirty="0"/>
          </a:p>
          <a:p>
            <a:pPr indent="0" marL="0">
              <a:lnSpc>
                <a:spcPts val="2600"/>
              </a:lnSpc>
              <a:buNone/>
            </a:pPr>
            <a:r>
              <a:rPr lang="en-US" sz="1800" dirty="0">
                <a:solidFill>
                  <a:srgbClr val="2E3F4D"/>
                </a:solidFill>
                <a:latin typeface="Calibri" pitchFamily="34" charset="0"/>
                <a:ea typeface="Calibri" pitchFamily="34" charset="-122"/>
                <a:cs typeface="Calibri" pitchFamily="34" charset="-120"/>
              </a:rPr>
              <a:t>Sans les noms, je ne saurai pas de qui vient la copie.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144768"/>
            <a:ext cx="457200" cy="457200"/>
          </a:xfrm>
          <a:prstGeom prst="rect">
            <a:avLst/>
          </a:prstGeom>
        </p:spPr>
      </p:pic>
      <p:pic>
        <p:nvPicPr>
          <p:cNvPr id="3" name="Image 1" descr="preencoded.png">    </p:cNvPr>
          <p:cNvPicPr>
            <a:picLocks noChangeAspect="1"/>
          </p:cNvPicPr>
          <p:nvPr/>
        </p:nvPicPr>
        <p:blipFill>
          <a:blip r:embed="rId2"/>
          <a:stretch>
            <a:fillRect/>
          </a:stretch>
        </p:blipFill>
        <p:spPr>
          <a:xfrm>
            <a:off x="10378440" y="6199632"/>
            <a:ext cx="1371600" cy="347472"/>
          </a:xfrm>
          <a:prstGeom prst="rect">
            <a:avLst/>
          </a:prstGeom>
        </p:spPr>
      </p:pic>
      <p:sp>
        <p:nvSpPr>
          <p:cNvPr id="4" name="Text 0"/>
          <p:cNvSpPr txBox="1"/>
          <p:nvPr/>
        </p:nvSpPr>
        <p:spPr>
          <a:xfrm>
            <a:off x="960120" y="6199632"/>
            <a:ext cx="5486400" cy="32918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Technologie · 3e · première séance</a:t>
            </a:r>
            <a:endParaRPr lang="en-US" sz="1000" dirty="0"/>
          </a:p>
        </p:txBody>
      </p:sp>
      <p:sp>
        <p:nvSpPr>
          <p:cNvPr id="5" name="Text 1"/>
          <p:cNvSpPr txBox="1"/>
          <p:nvPr/>
        </p:nvSpPr>
        <p:spPr>
          <a:xfrm>
            <a:off x="640080" y="384048"/>
            <a:ext cx="10881360" cy="292608"/>
          </a:xfrm>
          <a:prstGeom prst="rect">
            <a:avLst/>
          </a:prstGeom>
          <a:noFill/>
          <a:ln/>
        </p:spPr>
        <p:txBody>
          <a:bodyPr wrap="square" lIns="0" tIns="0" rIns="0" bIns="0" rtlCol="0" anchor="ctr"/>
          <a:lstStyle/>
          <a:p>
            <a:pPr indent="0" marL="0">
              <a:buNone/>
            </a:pPr>
            <a:r>
              <a:rPr lang="en-US" sz="1300" b="1" spc="200" kern="0" dirty="0">
                <a:solidFill>
                  <a:srgbClr val="00549F"/>
                </a:solidFill>
                <a:latin typeface="Calibri" pitchFamily="34" charset="0"/>
                <a:ea typeface="Calibri" pitchFamily="34" charset="-122"/>
                <a:cs typeface="Calibri" pitchFamily="34" charset="-120"/>
              </a:rPr>
              <a:t>PASSATION EN COURS</a:t>
            </a:r>
            <a:endParaRPr lang="en-US" sz="1300" dirty="0"/>
          </a:p>
        </p:txBody>
      </p:sp>
      <p:sp>
        <p:nvSpPr>
          <p:cNvPr id="6" name="Text 2"/>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Vous avez 33 minutes</a:t>
            </a:r>
            <a:endParaRPr lang="en-US" sz="3400" dirty="0"/>
          </a:p>
        </p:txBody>
      </p:sp>
      <p:sp>
        <p:nvSpPr>
          <p:cNvPr id="7" name="Shape 3"/>
          <p:cNvSpPr/>
          <p:nvPr/>
        </p:nvSpPr>
        <p:spPr>
          <a:xfrm>
            <a:off x="640080" y="1920240"/>
            <a:ext cx="10881360" cy="749808"/>
          </a:xfrm>
          <a:prstGeom prst="roundRect">
            <a:avLst>
              <a:gd name="adj" fmla="val 9756"/>
            </a:avLst>
          </a:prstGeom>
          <a:solidFill>
            <a:srgbClr val="E8F1FA"/>
          </a:solidFill>
          <a:ln w="12700">
            <a:solidFill>
              <a:srgbClr val="C7DDF2"/>
            </a:solidFill>
            <a:prstDash val="solid"/>
          </a:ln>
        </p:spPr>
      </p:sp>
      <p:sp>
        <p:nvSpPr>
          <p:cNvPr id="8" name="Text 4"/>
          <p:cNvSpPr txBox="1"/>
          <p:nvPr/>
        </p:nvSpPr>
        <p:spPr>
          <a:xfrm>
            <a:off x="960120" y="1920240"/>
            <a:ext cx="2011680" cy="749808"/>
          </a:xfrm>
          <a:prstGeom prst="rect">
            <a:avLst/>
          </a:prstGeom>
          <a:noFill/>
          <a:ln/>
        </p:spPr>
        <p:txBody>
          <a:bodyPr wrap="square" lIns="0" tIns="0" rIns="0" bIns="0" rtlCol="0" anchor="ctr"/>
          <a:lstStyle/>
          <a:p>
            <a:pPr indent="0" marL="0">
              <a:buNone/>
            </a:pPr>
            <a:r>
              <a:rPr lang="en-US" sz="1900" b="1" dirty="0">
                <a:solidFill>
                  <a:srgbClr val="00549F"/>
                </a:solidFill>
                <a:latin typeface="Cambria" pitchFamily="34" charset="0"/>
                <a:ea typeface="Cambria" pitchFamily="34" charset="-122"/>
                <a:cs typeface="Cambria" pitchFamily="34" charset="-120"/>
              </a:rPr>
              <a:t>Partie 1</a:t>
            </a:r>
            <a:endParaRPr lang="en-US" sz="1900" dirty="0"/>
          </a:p>
        </p:txBody>
      </p:sp>
      <p:sp>
        <p:nvSpPr>
          <p:cNvPr id="9" name="Text 5"/>
          <p:cNvSpPr txBox="1"/>
          <p:nvPr/>
        </p:nvSpPr>
        <p:spPr>
          <a:xfrm>
            <a:off x="3017520" y="1920240"/>
            <a:ext cx="6400800" cy="749808"/>
          </a:xfrm>
          <a:prstGeom prst="rect">
            <a:avLst/>
          </a:prstGeom>
          <a:noFill/>
          <a:ln/>
        </p:spPr>
        <p:txBody>
          <a:bodyPr wrap="square" lIns="0" tIns="0" rIns="0" bIns="0" rtlCol="0" anchor="ctr"/>
          <a:lstStyle/>
          <a:p>
            <a:pPr indent="0" marL="0">
              <a:buNone/>
            </a:pPr>
            <a:r>
              <a:rPr lang="en-US" sz="1700" dirty="0">
                <a:solidFill>
                  <a:srgbClr val="2E3F4D"/>
                </a:solidFill>
                <a:latin typeface="Calibri" pitchFamily="34" charset="0"/>
                <a:ea typeface="Calibri" pitchFamily="34" charset="-122"/>
                <a:cs typeface="Calibri" pitchFamily="34" charset="-120"/>
              </a:rPr>
              <a:t>À quoi sert un objet ?</a:t>
            </a:r>
            <a:endParaRPr lang="en-US" sz="1700" dirty="0"/>
          </a:p>
        </p:txBody>
      </p:sp>
      <p:sp>
        <p:nvSpPr>
          <p:cNvPr id="10" name="Text 6"/>
          <p:cNvSpPr txBox="1"/>
          <p:nvPr/>
        </p:nvSpPr>
        <p:spPr>
          <a:xfrm>
            <a:off x="9509760" y="1920240"/>
            <a:ext cx="1737360" cy="749808"/>
          </a:xfrm>
          <a:prstGeom prst="rect">
            <a:avLst/>
          </a:prstGeom>
          <a:noFill/>
          <a:ln/>
        </p:spPr>
        <p:txBody>
          <a:bodyPr wrap="square" lIns="0" tIns="0" rIns="0" bIns="0" rtlCol="0" anchor="ctr"/>
          <a:lstStyle/>
          <a:p>
            <a:pPr algn="r" indent="0" marL="0">
              <a:buNone/>
            </a:pPr>
            <a:r>
              <a:rPr lang="en-US" sz="1900" b="1" dirty="0">
                <a:solidFill>
                  <a:srgbClr val="1B2A38"/>
                </a:solidFill>
                <a:latin typeface="Cambria" pitchFamily="34" charset="0"/>
                <a:ea typeface="Cambria" pitchFamily="34" charset="-122"/>
                <a:cs typeface="Cambria" pitchFamily="34" charset="-120"/>
              </a:rPr>
              <a:t>12 min</a:t>
            </a:r>
            <a:endParaRPr lang="en-US" sz="1900" dirty="0"/>
          </a:p>
        </p:txBody>
      </p:sp>
      <p:sp>
        <p:nvSpPr>
          <p:cNvPr id="11" name="Shape 7"/>
          <p:cNvSpPr/>
          <p:nvPr/>
        </p:nvSpPr>
        <p:spPr>
          <a:xfrm>
            <a:off x="640080" y="2816352"/>
            <a:ext cx="10881360" cy="749808"/>
          </a:xfrm>
          <a:prstGeom prst="roundRect">
            <a:avLst>
              <a:gd name="adj" fmla="val 9756"/>
            </a:avLst>
          </a:prstGeom>
          <a:solidFill>
            <a:srgbClr val="E8F1FA"/>
          </a:solidFill>
          <a:ln w="12700">
            <a:solidFill>
              <a:srgbClr val="C7DDF2"/>
            </a:solidFill>
            <a:prstDash val="solid"/>
          </a:ln>
        </p:spPr>
      </p:sp>
      <p:sp>
        <p:nvSpPr>
          <p:cNvPr id="12" name="Text 8"/>
          <p:cNvSpPr txBox="1"/>
          <p:nvPr/>
        </p:nvSpPr>
        <p:spPr>
          <a:xfrm>
            <a:off x="960120" y="2816352"/>
            <a:ext cx="2011680" cy="749808"/>
          </a:xfrm>
          <a:prstGeom prst="rect">
            <a:avLst/>
          </a:prstGeom>
          <a:noFill/>
          <a:ln/>
        </p:spPr>
        <p:txBody>
          <a:bodyPr wrap="square" lIns="0" tIns="0" rIns="0" bIns="0" rtlCol="0" anchor="ctr"/>
          <a:lstStyle/>
          <a:p>
            <a:pPr indent="0" marL="0">
              <a:buNone/>
            </a:pPr>
            <a:r>
              <a:rPr lang="en-US" sz="1900" b="1" dirty="0">
                <a:solidFill>
                  <a:srgbClr val="00549F"/>
                </a:solidFill>
                <a:latin typeface="Cambria" pitchFamily="34" charset="0"/>
                <a:ea typeface="Cambria" pitchFamily="34" charset="-122"/>
                <a:cs typeface="Cambria" pitchFamily="34" charset="-120"/>
              </a:rPr>
              <a:t>Partie 2</a:t>
            </a:r>
            <a:endParaRPr lang="en-US" sz="1900" dirty="0"/>
          </a:p>
        </p:txBody>
      </p:sp>
      <p:sp>
        <p:nvSpPr>
          <p:cNvPr id="13" name="Text 9"/>
          <p:cNvSpPr txBox="1"/>
          <p:nvPr/>
        </p:nvSpPr>
        <p:spPr>
          <a:xfrm>
            <a:off x="3017520" y="2816352"/>
            <a:ext cx="6400800" cy="749808"/>
          </a:xfrm>
          <a:prstGeom prst="rect">
            <a:avLst/>
          </a:prstGeom>
          <a:noFill/>
          <a:ln/>
        </p:spPr>
        <p:txBody>
          <a:bodyPr wrap="square" lIns="0" tIns="0" rIns="0" bIns="0" rtlCol="0" anchor="ctr"/>
          <a:lstStyle/>
          <a:p>
            <a:pPr indent="0" marL="0">
              <a:buNone/>
            </a:pPr>
            <a:r>
              <a:rPr lang="en-US" sz="1700" dirty="0">
                <a:solidFill>
                  <a:srgbClr val="2E3F4D"/>
                </a:solidFill>
                <a:latin typeface="Calibri" pitchFamily="34" charset="0"/>
                <a:ea typeface="Calibri" pitchFamily="34" charset="-122"/>
                <a:cs typeface="Calibri" pitchFamily="34" charset="-120"/>
              </a:rPr>
              <a:t>Comment fonctionne un objet ?</a:t>
            </a:r>
            <a:endParaRPr lang="en-US" sz="1700" dirty="0"/>
          </a:p>
        </p:txBody>
      </p:sp>
      <p:sp>
        <p:nvSpPr>
          <p:cNvPr id="14" name="Text 10"/>
          <p:cNvSpPr txBox="1"/>
          <p:nvPr/>
        </p:nvSpPr>
        <p:spPr>
          <a:xfrm>
            <a:off x="9509760" y="2816352"/>
            <a:ext cx="1737360" cy="749808"/>
          </a:xfrm>
          <a:prstGeom prst="rect">
            <a:avLst/>
          </a:prstGeom>
          <a:noFill/>
          <a:ln/>
        </p:spPr>
        <p:txBody>
          <a:bodyPr wrap="square" lIns="0" tIns="0" rIns="0" bIns="0" rtlCol="0" anchor="ctr"/>
          <a:lstStyle/>
          <a:p>
            <a:pPr algn="r" indent="0" marL="0">
              <a:buNone/>
            </a:pPr>
            <a:r>
              <a:rPr lang="en-US" sz="1900" b="1" dirty="0">
                <a:solidFill>
                  <a:srgbClr val="1B2A38"/>
                </a:solidFill>
                <a:latin typeface="Cambria" pitchFamily="34" charset="0"/>
                <a:ea typeface="Cambria" pitchFamily="34" charset="-122"/>
                <a:cs typeface="Cambria" pitchFamily="34" charset="-120"/>
              </a:rPr>
              <a:t>9 min</a:t>
            </a:r>
            <a:endParaRPr lang="en-US" sz="1900" dirty="0"/>
          </a:p>
        </p:txBody>
      </p:sp>
      <p:sp>
        <p:nvSpPr>
          <p:cNvPr id="15" name="Shape 11"/>
          <p:cNvSpPr/>
          <p:nvPr/>
        </p:nvSpPr>
        <p:spPr>
          <a:xfrm>
            <a:off x="640080" y="3712464"/>
            <a:ext cx="10881360" cy="749808"/>
          </a:xfrm>
          <a:prstGeom prst="roundRect">
            <a:avLst>
              <a:gd name="adj" fmla="val 9756"/>
            </a:avLst>
          </a:prstGeom>
          <a:solidFill>
            <a:srgbClr val="E8F1FA"/>
          </a:solidFill>
          <a:ln w="12700">
            <a:solidFill>
              <a:srgbClr val="C7DDF2"/>
            </a:solidFill>
            <a:prstDash val="solid"/>
          </a:ln>
        </p:spPr>
      </p:sp>
      <p:sp>
        <p:nvSpPr>
          <p:cNvPr id="16" name="Text 12"/>
          <p:cNvSpPr txBox="1"/>
          <p:nvPr/>
        </p:nvSpPr>
        <p:spPr>
          <a:xfrm>
            <a:off x="960120" y="3712464"/>
            <a:ext cx="2011680" cy="749808"/>
          </a:xfrm>
          <a:prstGeom prst="rect">
            <a:avLst/>
          </a:prstGeom>
          <a:noFill/>
          <a:ln/>
        </p:spPr>
        <p:txBody>
          <a:bodyPr wrap="square" lIns="0" tIns="0" rIns="0" bIns="0" rtlCol="0" anchor="ctr"/>
          <a:lstStyle/>
          <a:p>
            <a:pPr indent="0" marL="0">
              <a:buNone/>
            </a:pPr>
            <a:r>
              <a:rPr lang="en-US" sz="1900" b="1" dirty="0">
                <a:solidFill>
                  <a:srgbClr val="00549F"/>
                </a:solidFill>
                <a:latin typeface="Cambria" pitchFamily="34" charset="0"/>
                <a:ea typeface="Cambria" pitchFamily="34" charset="-122"/>
                <a:cs typeface="Cambria" pitchFamily="34" charset="-120"/>
              </a:rPr>
              <a:t>Partie 3</a:t>
            </a:r>
            <a:endParaRPr lang="en-US" sz="1900" dirty="0"/>
          </a:p>
        </p:txBody>
      </p:sp>
      <p:sp>
        <p:nvSpPr>
          <p:cNvPr id="17" name="Text 13"/>
          <p:cNvSpPr txBox="1"/>
          <p:nvPr/>
        </p:nvSpPr>
        <p:spPr>
          <a:xfrm>
            <a:off x="3017520" y="3712464"/>
            <a:ext cx="6400800" cy="749808"/>
          </a:xfrm>
          <a:prstGeom prst="rect">
            <a:avLst/>
          </a:prstGeom>
          <a:noFill/>
          <a:ln/>
        </p:spPr>
        <p:txBody>
          <a:bodyPr wrap="square" lIns="0" tIns="0" rIns="0" bIns="0" rtlCol="0" anchor="ctr"/>
          <a:lstStyle/>
          <a:p>
            <a:pPr indent="0" marL="0">
              <a:buNone/>
            </a:pPr>
            <a:r>
              <a:rPr lang="en-US" sz="1700" dirty="0">
                <a:solidFill>
                  <a:srgbClr val="2E3F4D"/>
                </a:solidFill>
                <a:latin typeface="Calibri" pitchFamily="34" charset="0"/>
                <a:ea typeface="Calibri" pitchFamily="34" charset="-122"/>
                <a:cs typeface="Calibri" pitchFamily="34" charset="-120"/>
              </a:rPr>
              <a:t>Lire un programme</a:t>
            </a:r>
            <a:endParaRPr lang="en-US" sz="1700" dirty="0"/>
          </a:p>
        </p:txBody>
      </p:sp>
      <p:sp>
        <p:nvSpPr>
          <p:cNvPr id="18" name="Text 14"/>
          <p:cNvSpPr txBox="1"/>
          <p:nvPr/>
        </p:nvSpPr>
        <p:spPr>
          <a:xfrm>
            <a:off x="9509760" y="3712464"/>
            <a:ext cx="1737360" cy="749808"/>
          </a:xfrm>
          <a:prstGeom prst="rect">
            <a:avLst/>
          </a:prstGeom>
          <a:noFill/>
          <a:ln/>
        </p:spPr>
        <p:txBody>
          <a:bodyPr wrap="square" lIns="0" tIns="0" rIns="0" bIns="0" rtlCol="0" anchor="ctr"/>
          <a:lstStyle/>
          <a:p>
            <a:pPr algn="r" indent="0" marL="0">
              <a:buNone/>
            </a:pPr>
            <a:r>
              <a:rPr lang="en-US" sz="1900" b="1" dirty="0">
                <a:solidFill>
                  <a:srgbClr val="1B2A38"/>
                </a:solidFill>
                <a:latin typeface="Cambria" pitchFamily="34" charset="0"/>
                <a:ea typeface="Cambria" pitchFamily="34" charset="-122"/>
                <a:cs typeface="Cambria" pitchFamily="34" charset="-120"/>
              </a:rPr>
              <a:t>12 min</a:t>
            </a:r>
            <a:endParaRPr lang="en-US" sz="1900" dirty="0"/>
          </a:p>
        </p:txBody>
      </p:sp>
      <p:sp>
        <p:nvSpPr>
          <p:cNvPr id="19" name="Shape 15"/>
          <p:cNvSpPr/>
          <p:nvPr/>
        </p:nvSpPr>
        <p:spPr>
          <a:xfrm>
            <a:off x="640080" y="4608576"/>
            <a:ext cx="10881360" cy="749808"/>
          </a:xfrm>
          <a:prstGeom prst="roundRect">
            <a:avLst>
              <a:gd name="adj" fmla="val 9756"/>
            </a:avLst>
          </a:prstGeom>
          <a:solidFill>
            <a:srgbClr val="00304F"/>
          </a:solidFill>
          <a:ln w="12700">
            <a:solidFill>
              <a:srgbClr val="00304F"/>
            </a:solidFill>
            <a:prstDash val="solid"/>
          </a:ln>
        </p:spPr>
      </p:sp>
      <p:sp>
        <p:nvSpPr>
          <p:cNvPr id="20" name="Text 16"/>
          <p:cNvSpPr txBox="1"/>
          <p:nvPr/>
        </p:nvSpPr>
        <p:spPr>
          <a:xfrm>
            <a:off x="960120" y="4608576"/>
            <a:ext cx="2011680" cy="74980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Puis</a:t>
            </a:r>
            <a:endParaRPr lang="en-US" sz="1900" dirty="0"/>
          </a:p>
        </p:txBody>
      </p:sp>
      <p:sp>
        <p:nvSpPr>
          <p:cNvPr id="21" name="Text 17"/>
          <p:cNvSpPr txBox="1"/>
          <p:nvPr/>
        </p:nvSpPr>
        <p:spPr>
          <a:xfrm>
            <a:off x="3017520" y="4608576"/>
            <a:ext cx="6400800" cy="749808"/>
          </a:xfrm>
          <a:prstGeom prst="rect">
            <a:avLst/>
          </a:prstGeom>
          <a:noFill/>
          <a:ln/>
        </p:spPr>
        <p:txBody>
          <a:bodyPr wrap="square" lIns="0" tIns="0" rIns="0" bIns="0" rtlCol="0" anchor="ctr"/>
          <a:lstStyle/>
          <a:p>
            <a:pPr indent="0" marL="0">
              <a:buNone/>
            </a:pPr>
            <a:r>
              <a:rPr lang="en-US" sz="1700" dirty="0">
                <a:solidFill>
                  <a:srgbClr val="D8E6F2"/>
                </a:solidFill>
                <a:latin typeface="Calibri" pitchFamily="34" charset="0"/>
                <a:ea typeface="Calibri" pitchFamily="34" charset="-122"/>
                <a:cs typeface="Calibri" pitchFamily="34" charset="-120"/>
              </a:rPr>
              <a:t>Générer le PDF et me l’envoyer</a:t>
            </a:r>
            <a:endParaRPr lang="en-US" sz="1700" dirty="0"/>
          </a:p>
        </p:txBody>
      </p:sp>
      <p:sp>
        <p:nvSpPr>
          <p:cNvPr id="22" name="Text 18"/>
          <p:cNvSpPr txBox="1"/>
          <p:nvPr/>
        </p:nvSpPr>
        <p:spPr>
          <a:xfrm>
            <a:off x="9509760" y="4608576"/>
            <a:ext cx="1737360" cy="749808"/>
          </a:xfrm>
          <a:prstGeom prst="rect">
            <a:avLst/>
          </a:prstGeom>
          <a:noFill/>
          <a:ln/>
        </p:spPr>
        <p:txBody>
          <a:bodyPr wrap="square" lIns="0" tIns="0" rIns="0" bIns="0" rtlCol="0" anchor="ctr"/>
          <a:lstStyle/>
          <a:p>
            <a:pPr algn="r" indent="0" marL="0">
              <a:buNone/>
            </a:pPr>
            <a:r>
              <a:rPr lang="en-US" sz="1900" b="1" dirty="0">
                <a:solidFill>
                  <a:srgbClr val="FFFFFF"/>
                </a:solidFill>
                <a:latin typeface="Cambria" pitchFamily="34" charset="0"/>
                <a:ea typeface="Cambria" pitchFamily="34" charset="-122"/>
                <a:cs typeface="Cambria" pitchFamily="34" charset="-120"/>
              </a:rPr>
              <a:t>14h44</a:t>
            </a:r>
            <a:endParaRPr lang="en-US" sz="1900" dirty="0"/>
          </a:p>
        </p:txBody>
      </p:sp>
      <p:sp>
        <p:nvSpPr>
          <p:cNvPr id="23" name="Text 19"/>
          <p:cNvSpPr txBox="1"/>
          <p:nvPr/>
        </p:nvSpPr>
        <p:spPr>
          <a:xfrm>
            <a:off x="640080" y="5577840"/>
            <a:ext cx="10881360" cy="457200"/>
          </a:xfrm>
          <a:prstGeom prst="rect">
            <a:avLst/>
          </a:prstGeom>
          <a:noFill/>
          <a:ln/>
        </p:spPr>
        <p:txBody>
          <a:bodyPr wrap="square" lIns="0" tIns="0" rIns="0" bIns="0" rtlCol="0" anchor="ctr"/>
          <a:lstStyle/>
          <a:p>
            <a:pPr indent="0" marL="0">
              <a:buNone/>
            </a:pPr>
            <a:r>
              <a:rPr lang="en-US" sz="1500" i="1" dirty="0">
                <a:solidFill>
                  <a:srgbClr val="5A6672"/>
                </a:solidFill>
                <a:latin typeface="Calibri" pitchFamily="34" charset="0"/>
                <a:ea typeface="Calibri" pitchFamily="34" charset="-122"/>
                <a:cs typeface="Calibri" pitchFamily="34" charset="-120"/>
              </a:rPr>
              <a:t>Arrêtez-vous à la fin de la partie 3. Si vous avez terminé en avance, continuez la partie 4.</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144768"/>
            <a:ext cx="457200" cy="457200"/>
          </a:xfrm>
          <a:prstGeom prst="rect">
            <a:avLst/>
          </a:prstGeom>
        </p:spPr>
      </p:pic>
      <p:pic>
        <p:nvPicPr>
          <p:cNvPr id="3" name="Image 1" descr="preencoded.png">    </p:cNvPr>
          <p:cNvPicPr>
            <a:picLocks noChangeAspect="1"/>
          </p:cNvPicPr>
          <p:nvPr/>
        </p:nvPicPr>
        <p:blipFill>
          <a:blip r:embed="rId2"/>
          <a:stretch>
            <a:fillRect/>
          </a:stretch>
        </p:blipFill>
        <p:spPr>
          <a:xfrm>
            <a:off x="10378440" y="6199632"/>
            <a:ext cx="1371600" cy="347472"/>
          </a:xfrm>
          <a:prstGeom prst="rect">
            <a:avLst/>
          </a:prstGeom>
        </p:spPr>
      </p:pic>
      <p:sp>
        <p:nvSpPr>
          <p:cNvPr id="4" name="Text 0"/>
          <p:cNvSpPr txBox="1"/>
          <p:nvPr/>
        </p:nvSpPr>
        <p:spPr>
          <a:xfrm>
            <a:off x="960120" y="6199632"/>
            <a:ext cx="5486400" cy="32918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Technologie · 3e · première séance</a:t>
            </a:r>
            <a:endParaRPr lang="en-US" sz="1000" dirty="0"/>
          </a:p>
        </p:txBody>
      </p:sp>
      <p:sp>
        <p:nvSpPr>
          <p:cNvPr id="5" name="Text 1"/>
          <p:cNvSpPr txBox="1"/>
          <p:nvPr/>
        </p:nvSpPr>
        <p:spPr>
          <a:xfrm>
            <a:off x="640080" y="384048"/>
            <a:ext cx="10881360" cy="292608"/>
          </a:xfrm>
          <a:prstGeom prst="rect">
            <a:avLst/>
          </a:prstGeom>
          <a:noFill/>
          <a:ln/>
        </p:spPr>
        <p:txBody>
          <a:bodyPr wrap="square" lIns="0" tIns="0" rIns="0" bIns="0" rtlCol="0" anchor="ctr"/>
          <a:lstStyle/>
          <a:p>
            <a:pPr indent="0" marL="0">
              <a:buNone/>
            </a:pPr>
            <a:r>
              <a:rPr lang="en-US" sz="1300" b="1" spc="200" kern="0" dirty="0">
                <a:solidFill>
                  <a:srgbClr val="00549F"/>
                </a:solidFill>
                <a:latin typeface="Calibri" pitchFamily="34" charset="0"/>
                <a:ea typeface="Calibri" pitchFamily="34" charset="-122"/>
                <a:cs typeface="Calibri" pitchFamily="34" charset="-120"/>
              </a:rPr>
              <a:t>LE GESTE DE TOUTE L’ANNÉE</a:t>
            </a:r>
            <a:endParaRPr lang="en-US" sz="1300" dirty="0"/>
          </a:p>
        </p:txBody>
      </p:sp>
      <p:sp>
        <p:nvSpPr>
          <p:cNvPr id="6" name="Text 2"/>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Générer le PDF et me l’envoyer</a:t>
            </a:r>
            <a:endParaRPr lang="en-US" sz="3400" dirty="0"/>
          </a:p>
        </p:txBody>
      </p:sp>
      <p:sp>
        <p:nvSpPr>
          <p:cNvPr id="7" name="Shape 3"/>
          <p:cNvSpPr/>
          <p:nvPr/>
        </p:nvSpPr>
        <p:spPr>
          <a:xfrm>
            <a:off x="640080" y="1691640"/>
            <a:ext cx="5349240" cy="2103120"/>
          </a:xfrm>
          <a:prstGeom prst="roundRect">
            <a:avLst>
              <a:gd name="adj" fmla="val 5217"/>
            </a:avLst>
          </a:prstGeom>
          <a:solidFill>
            <a:srgbClr val="E8F1FA"/>
          </a:solidFill>
          <a:ln w="12700">
            <a:solidFill>
              <a:srgbClr val="C7DDF2"/>
            </a:solidFill>
            <a:prstDash val="solid"/>
          </a:ln>
        </p:spPr>
      </p:sp>
      <p:sp>
        <p:nvSpPr>
          <p:cNvPr id="8" name="Shape 4"/>
          <p:cNvSpPr/>
          <p:nvPr/>
        </p:nvSpPr>
        <p:spPr>
          <a:xfrm>
            <a:off x="914400" y="1929384"/>
            <a:ext cx="502920" cy="502920"/>
          </a:xfrm>
          <a:prstGeom prst="ellipse">
            <a:avLst/>
          </a:prstGeom>
          <a:solidFill>
            <a:srgbClr val="00549F"/>
          </a:solidFill>
          <a:ln w="12700">
            <a:solidFill>
              <a:srgbClr val="00549F"/>
            </a:solidFill>
            <a:prstDash val="solid"/>
          </a:ln>
        </p:spPr>
      </p:sp>
      <p:sp>
        <p:nvSpPr>
          <p:cNvPr id="9" name="Text 5"/>
          <p:cNvSpPr txBox="1"/>
          <p:nvPr/>
        </p:nvSpPr>
        <p:spPr>
          <a:xfrm>
            <a:off x="914400" y="192938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10" name="Text 6"/>
          <p:cNvSpPr txBox="1"/>
          <p:nvPr/>
        </p:nvSpPr>
        <p:spPr>
          <a:xfrm>
            <a:off x="914400" y="2560320"/>
            <a:ext cx="4800600" cy="402336"/>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Cliquez sur le bouton bleu</a:t>
            </a:r>
            <a:endParaRPr lang="en-US" sz="1900" dirty="0"/>
          </a:p>
        </p:txBody>
      </p:sp>
      <p:sp>
        <p:nvSpPr>
          <p:cNvPr id="11" name="Text 7"/>
          <p:cNvSpPr txBox="1"/>
          <p:nvPr/>
        </p:nvSpPr>
        <p:spPr>
          <a:xfrm>
            <a:off x="914400" y="3035808"/>
            <a:ext cx="4800600" cy="57607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 Générer le PDF à envoyer », en haut de la page.</a:t>
            </a:r>
            <a:endParaRPr lang="en-US" sz="1500" dirty="0"/>
          </a:p>
        </p:txBody>
      </p:sp>
      <p:sp>
        <p:nvSpPr>
          <p:cNvPr id="12" name="Shape 8"/>
          <p:cNvSpPr/>
          <p:nvPr/>
        </p:nvSpPr>
        <p:spPr>
          <a:xfrm>
            <a:off x="6172200" y="1691640"/>
            <a:ext cx="5349240" cy="2103120"/>
          </a:xfrm>
          <a:prstGeom prst="roundRect">
            <a:avLst>
              <a:gd name="adj" fmla="val 5217"/>
            </a:avLst>
          </a:prstGeom>
          <a:solidFill>
            <a:srgbClr val="E8F1FA"/>
          </a:solidFill>
          <a:ln w="12700">
            <a:solidFill>
              <a:srgbClr val="C7DDF2"/>
            </a:solidFill>
            <a:prstDash val="solid"/>
          </a:ln>
        </p:spPr>
      </p:sp>
      <p:sp>
        <p:nvSpPr>
          <p:cNvPr id="13" name="Shape 9"/>
          <p:cNvSpPr/>
          <p:nvPr/>
        </p:nvSpPr>
        <p:spPr>
          <a:xfrm>
            <a:off x="6446520" y="1929384"/>
            <a:ext cx="502920" cy="502920"/>
          </a:xfrm>
          <a:prstGeom prst="ellipse">
            <a:avLst/>
          </a:prstGeom>
          <a:solidFill>
            <a:srgbClr val="00549F"/>
          </a:solidFill>
          <a:ln w="12700">
            <a:solidFill>
              <a:srgbClr val="00549F"/>
            </a:solidFill>
            <a:prstDash val="solid"/>
          </a:ln>
        </p:spPr>
      </p:sp>
      <p:sp>
        <p:nvSpPr>
          <p:cNvPr id="14" name="Text 10"/>
          <p:cNvSpPr txBox="1"/>
          <p:nvPr/>
        </p:nvSpPr>
        <p:spPr>
          <a:xfrm>
            <a:off x="6446520" y="192938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5" name="Text 11"/>
          <p:cNvSpPr txBox="1"/>
          <p:nvPr/>
        </p:nvSpPr>
        <p:spPr>
          <a:xfrm>
            <a:off x="6446520" y="2560320"/>
            <a:ext cx="4800600" cy="402336"/>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Enregistrez en PDF</a:t>
            </a:r>
            <a:endParaRPr lang="en-US" sz="1900" dirty="0"/>
          </a:p>
        </p:txBody>
      </p:sp>
      <p:sp>
        <p:nvSpPr>
          <p:cNvPr id="16" name="Text 12"/>
          <p:cNvSpPr txBox="1"/>
          <p:nvPr/>
        </p:nvSpPr>
        <p:spPr>
          <a:xfrm>
            <a:off x="6446520" y="3035808"/>
            <a:ext cx="4800600" cy="57607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Dans la fenêtre d'impression, choisissez Enregistrer au format PDF.</a:t>
            </a:r>
            <a:endParaRPr lang="en-US" sz="1500" dirty="0"/>
          </a:p>
        </p:txBody>
      </p:sp>
      <p:sp>
        <p:nvSpPr>
          <p:cNvPr id="17" name="Shape 13"/>
          <p:cNvSpPr/>
          <p:nvPr/>
        </p:nvSpPr>
        <p:spPr>
          <a:xfrm>
            <a:off x="640080" y="3913632"/>
            <a:ext cx="5349240" cy="2103120"/>
          </a:xfrm>
          <a:prstGeom prst="roundRect">
            <a:avLst>
              <a:gd name="adj" fmla="val 5217"/>
            </a:avLst>
          </a:prstGeom>
          <a:solidFill>
            <a:srgbClr val="E8F1FA"/>
          </a:solidFill>
          <a:ln w="12700">
            <a:solidFill>
              <a:srgbClr val="C7DDF2"/>
            </a:solidFill>
            <a:prstDash val="solid"/>
          </a:ln>
        </p:spPr>
      </p:sp>
      <p:sp>
        <p:nvSpPr>
          <p:cNvPr id="18" name="Shape 14"/>
          <p:cNvSpPr/>
          <p:nvPr/>
        </p:nvSpPr>
        <p:spPr>
          <a:xfrm>
            <a:off x="914400" y="4151376"/>
            <a:ext cx="502920" cy="502920"/>
          </a:xfrm>
          <a:prstGeom prst="ellipse">
            <a:avLst/>
          </a:prstGeom>
          <a:solidFill>
            <a:srgbClr val="00549F"/>
          </a:solidFill>
          <a:ln w="12700">
            <a:solidFill>
              <a:srgbClr val="00549F"/>
            </a:solidFill>
            <a:prstDash val="solid"/>
          </a:ln>
        </p:spPr>
      </p:sp>
      <p:sp>
        <p:nvSpPr>
          <p:cNvPr id="19" name="Text 15"/>
          <p:cNvSpPr txBox="1"/>
          <p:nvPr/>
        </p:nvSpPr>
        <p:spPr>
          <a:xfrm>
            <a:off x="914400" y="4151376"/>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3</a:t>
            </a:r>
            <a:endParaRPr lang="en-US" sz="2100" dirty="0"/>
          </a:p>
        </p:txBody>
      </p:sp>
      <p:sp>
        <p:nvSpPr>
          <p:cNvPr id="20" name="Text 16"/>
          <p:cNvSpPr txBox="1"/>
          <p:nvPr/>
        </p:nvSpPr>
        <p:spPr>
          <a:xfrm>
            <a:off x="914400" y="4782312"/>
            <a:ext cx="4800600" cy="402336"/>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Joignez le fichier</a:t>
            </a:r>
            <a:endParaRPr lang="en-US" sz="1900" dirty="0"/>
          </a:p>
        </p:txBody>
      </p:sp>
      <p:sp>
        <p:nvSpPr>
          <p:cNvPr id="21" name="Text 17"/>
          <p:cNvSpPr txBox="1"/>
          <p:nvPr/>
        </p:nvSpPr>
        <p:spPr>
          <a:xfrm>
            <a:off x="914400" y="5257800"/>
            <a:ext cx="4800600" cy="57607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À un courriel envoyé depuis le compte porteur du binôme.</a:t>
            </a:r>
            <a:endParaRPr lang="en-US" sz="1500" dirty="0"/>
          </a:p>
        </p:txBody>
      </p:sp>
      <p:sp>
        <p:nvSpPr>
          <p:cNvPr id="22" name="Shape 18"/>
          <p:cNvSpPr/>
          <p:nvPr/>
        </p:nvSpPr>
        <p:spPr>
          <a:xfrm>
            <a:off x="6172200" y="3913632"/>
            <a:ext cx="5349240" cy="2103120"/>
          </a:xfrm>
          <a:prstGeom prst="roundRect">
            <a:avLst>
              <a:gd name="adj" fmla="val 5217"/>
            </a:avLst>
          </a:prstGeom>
          <a:solidFill>
            <a:srgbClr val="E8F1FA"/>
          </a:solidFill>
          <a:ln w="12700">
            <a:solidFill>
              <a:srgbClr val="C7DDF2"/>
            </a:solidFill>
            <a:prstDash val="solid"/>
          </a:ln>
        </p:spPr>
      </p:sp>
      <p:sp>
        <p:nvSpPr>
          <p:cNvPr id="23" name="Shape 19"/>
          <p:cNvSpPr/>
          <p:nvPr/>
        </p:nvSpPr>
        <p:spPr>
          <a:xfrm>
            <a:off x="6446520" y="4151376"/>
            <a:ext cx="502920" cy="502920"/>
          </a:xfrm>
          <a:prstGeom prst="ellipse">
            <a:avLst/>
          </a:prstGeom>
          <a:solidFill>
            <a:srgbClr val="00549F"/>
          </a:solidFill>
          <a:ln w="12700">
            <a:solidFill>
              <a:srgbClr val="00549F"/>
            </a:solidFill>
            <a:prstDash val="solid"/>
          </a:ln>
        </p:spPr>
      </p:sp>
      <p:sp>
        <p:nvSpPr>
          <p:cNvPr id="24" name="Text 20"/>
          <p:cNvSpPr txBox="1"/>
          <p:nvPr/>
        </p:nvSpPr>
        <p:spPr>
          <a:xfrm>
            <a:off x="6446520" y="4151376"/>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4</a:t>
            </a:r>
            <a:endParaRPr lang="en-US" sz="2100" dirty="0"/>
          </a:p>
        </p:txBody>
      </p:sp>
      <p:sp>
        <p:nvSpPr>
          <p:cNvPr id="25" name="Text 21"/>
          <p:cNvSpPr txBox="1"/>
          <p:nvPr/>
        </p:nvSpPr>
        <p:spPr>
          <a:xfrm>
            <a:off x="6446520" y="4782312"/>
            <a:ext cx="4800600" cy="402336"/>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Objet du courriel</a:t>
            </a:r>
            <a:endParaRPr lang="en-US" sz="1900" dirty="0"/>
          </a:p>
        </p:txBody>
      </p:sp>
      <p:sp>
        <p:nvSpPr>
          <p:cNvPr id="26" name="Text 22"/>
          <p:cNvSpPr txBox="1"/>
          <p:nvPr/>
        </p:nvSpPr>
        <p:spPr>
          <a:xfrm>
            <a:off x="6446520" y="5257800"/>
            <a:ext cx="4800600" cy="57607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DIAGNOSTIC 3e, puis vos deux noms.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144768"/>
            <a:ext cx="457200" cy="457200"/>
          </a:xfrm>
          <a:prstGeom prst="rect">
            <a:avLst/>
          </a:prstGeom>
        </p:spPr>
      </p:pic>
      <p:pic>
        <p:nvPicPr>
          <p:cNvPr id="3" name="Image 1" descr="preencoded.png">    </p:cNvPr>
          <p:cNvPicPr>
            <a:picLocks noChangeAspect="1"/>
          </p:cNvPicPr>
          <p:nvPr/>
        </p:nvPicPr>
        <p:blipFill>
          <a:blip r:embed="rId2"/>
          <a:stretch>
            <a:fillRect/>
          </a:stretch>
        </p:blipFill>
        <p:spPr>
          <a:xfrm>
            <a:off x="10378440" y="6199632"/>
            <a:ext cx="1371600" cy="347472"/>
          </a:xfrm>
          <a:prstGeom prst="rect">
            <a:avLst/>
          </a:prstGeom>
        </p:spPr>
      </p:pic>
      <p:sp>
        <p:nvSpPr>
          <p:cNvPr id="4" name="Text 0"/>
          <p:cNvSpPr txBox="1"/>
          <p:nvPr/>
        </p:nvSpPr>
        <p:spPr>
          <a:xfrm>
            <a:off x="960120" y="6199632"/>
            <a:ext cx="5486400" cy="32918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Technologie · 3e · première séance</a:t>
            </a:r>
            <a:endParaRPr lang="en-US" sz="1000" dirty="0"/>
          </a:p>
        </p:txBody>
      </p:sp>
      <p:sp>
        <p:nvSpPr>
          <p:cNvPr id="5" name="Text 1"/>
          <p:cNvSpPr txBox="1"/>
          <p:nvPr/>
        </p:nvSpPr>
        <p:spPr>
          <a:xfrm>
            <a:off x="640080" y="384048"/>
            <a:ext cx="10881360" cy="292608"/>
          </a:xfrm>
          <a:prstGeom prst="rect">
            <a:avLst/>
          </a:prstGeom>
          <a:noFill/>
          <a:ln/>
        </p:spPr>
        <p:txBody>
          <a:bodyPr wrap="square" lIns="0" tIns="0" rIns="0" bIns="0" rtlCol="0" anchor="ctr"/>
          <a:lstStyle/>
          <a:p>
            <a:pPr indent="0" marL="0">
              <a:buNone/>
            </a:pPr>
            <a:r>
              <a:rPr lang="en-US" sz="1300" b="1" spc="200" kern="0" dirty="0">
                <a:solidFill>
                  <a:srgbClr val="00549F"/>
                </a:solidFill>
                <a:latin typeface="Calibri" pitchFamily="34" charset="0"/>
                <a:ea typeface="Calibri" pitchFamily="34" charset="-122"/>
                <a:cs typeface="Calibri" pitchFamily="34" charset="-120"/>
              </a:rPr>
              <a:t>VOUS ÊTES EN 3e</a:t>
            </a:r>
            <a:endParaRPr lang="en-US" sz="1300" dirty="0"/>
          </a:p>
        </p:txBody>
      </p:sp>
      <p:sp>
        <p:nvSpPr>
          <p:cNvPr id="6" name="Text 2"/>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Ce qui vous attend cette année</a:t>
            </a:r>
            <a:endParaRPr lang="en-US" sz="3400" dirty="0"/>
          </a:p>
        </p:txBody>
      </p:sp>
      <p:sp>
        <p:nvSpPr>
          <p:cNvPr id="7" name="Shape 3"/>
          <p:cNvSpPr/>
          <p:nvPr/>
        </p:nvSpPr>
        <p:spPr>
          <a:xfrm>
            <a:off x="640080" y="1783080"/>
            <a:ext cx="3520440" cy="3657600"/>
          </a:xfrm>
          <a:prstGeom prst="roundRect">
            <a:avLst>
              <a:gd name="adj" fmla="val 3117"/>
            </a:avLst>
          </a:prstGeom>
          <a:solidFill>
            <a:srgbClr val="E8F1FA"/>
          </a:solidFill>
          <a:ln w="12700">
            <a:solidFill>
              <a:srgbClr val="C7DDF2"/>
            </a:solidFill>
            <a:prstDash val="solid"/>
          </a:ln>
        </p:spPr>
      </p:sp>
      <p:sp>
        <p:nvSpPr>
          <p:cNvPr id="8" name="Text 4"/>
          <p:cNvSpPr txBox="1"/>
          <p:nvPr/>
        </p:nvSpPr>
        <p:spPr>
          <a:xfrm>
            <a:off x="914400" y="2057400"/>
            <a:ext cx="2971800" cy="384048"/>
          </a:xfrm>
          <a:prstGeom prst="rect">
            <a:avLst/>
          </a:prstGeom>
          <a:noFill/>
          <a:ln/>
        </p:spPr>
        <p:txBody>
          <a:bodyPr wrap="square" lIns="0" tIns="0" rIns="0" bIns="0" rtlCol="0" anchor="ctr"/>
          <a:lstStyle/>
          <a:p>
            <a:pPr indent="0" marL="0">
              <a:buNone/>
            </a:pPr>
            <a:r>
              <a:rPr lang="en-US" sz="1600" b="1" dirty="0">
                <a:solidFill>
                  <a:srgbClr val="00549F"/>
                </a:solidFill>
                <a:latin typeface="Calibri" pitchFamily="34" charset="0"/>
                <a:ea typeface="Calibri" pitchFamily="34" charset="-122"/>
                <a:cs typeface="Calibri" pitchFamily="34" charset="-120"/>
              </a:rPr>
              <a:t>juin</a:t>
            </a:r>
            <a:endParaRPr lang="en-US" sz="1600" dirty="0"/>
          </a:p>
        </p:txBody>
      </p:sp>
      <p:sp>
        <p:nvSpPr>
          <p:cNvPr id="9" name="Text 5"/>
          <p:cNvSpPr txBox="1"/>
          <p:nvPr/>
        </p:nvSpPr>
        <p:spPr>
          <a:xfrm>
            <a:off x="914400" y="2377440"/>
            <a:ext cx="2971800" cy="914400"/>
          </a:xfrm>
          <a:prstGeom prst="rect">
            <a:avLst/>
          </a:prstGeom>
          <a:noFill/>
          <a:ln/>
        </p:spPr>
        <p:txBody>
          <a:bodyPr wrap="square" lIns="0" tIns="0" rIns="0" bIns="0" rtlCol="0" anchor="ctr"/>
          <a:lstStyle/>
          <a:p>
            <a:pPr indent="0" marL="0">
              <a:buNone/>
            </a:pPr>
            <a:r>
              <a:rPr lang="en-US" sz="4600" b="1" dirty="0">
                <a:solidFill>
                  <a:srgbClr val="00549F"/>
                </a:solidFill>
                <a:latin typeface="Cambria" pitchFamily="34" charset="0"/>
                <a:ea typeface="Cambria" pitchFamily="34" charset="-122"/>
                <a:cs typeface="Cambria" pitchFamily="34" charset="-120"/>
              </a:rPr>
              <a:t>2027</a:t>
            </a:r>
            <a:endParaRPr lang="en-US" sz="4600" dirty="0"/>
          </a:p>
        </p:txBody>
      </p:sp>
      <p:sp>
        <p:nvSpPr>
          <p:cNvPr id="10" name="Text 6"/>
          <p:cNvSpPr txBox="1"/>
          <p:nvPr/>
        </p:nvSpPr>
        <p:spPr>
          <a:xfrm>
            <a:off x="914400" y="3364992"/>
            <a:ext cx="2971800" cy="749808"/>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Le brevet</a:t>
            </a:r>
            <a:endParaRPr lang="en-US" sz="1900" dirty="0"/>
          </a:p>
        </p:txBody>
      </p:sp>
      <p:sp>
        <p:nvSpPr>
          <p:cNvPr id="11" name="Text 7"/>
          <p:cNvSpPr txBox="1"/>
          <p:nvPr/>
        </p:nvSpPr>
        <p:spPr>
          <a:xfrm>
            <a:off x="914400" y="4160520"/>
            <a:ext cx="2971800" cy="1188720"/>
          </a:xfrm>
          <a:prstGeom prst="rect">
            <a:avLst/>
          </a:prstGeom>
          <a:noFill/>
          <a:ln/>
        </p:spPr>
        <p:txBody>
          <a:bodyPr wrap="square" lIns="0" tIns="0" rIns="0" bIns="0" rtlCol="0" anchor="ctr"/>
          <a:lstStyle/>
          <a:p>
            <a:pPr indent="0" marL="0">
              <a:lnSpc>
                <a:spcPts val="1900"/>
              </a:lnSpc>
              <a:buNone/>
            </a:pPr>
            <a:r>
              <a:rPr lang="en-US" sz="1400" dirty="0">
                <a:solidFill>
                  <a:srgbClr val="2E3F4D"/>
                </a:solidFill>
                <a:latin typeface="Calibri" pitchFamily="34" charset="0"/>
                <a:ea typeface="Calibri" pitchFamily="34" charset="-122"/>
                <a:cs typeface="Calibri" pitchFamily="34" charset="-120"/>
              </a:rPr>
              <a:t>Une épreuve de sciences d'une heure, sur deux disciplines parmi trois. Lesquelles ? Annoncé environ deux mois avant.</a:t>
            </a:r>
            <a:endParaRPr lang="en-US" sz="1400" dirty="0"/>
          </a:p>
        </p:txBody>
      </p:sp>
      <p:sp>
        <p:nvSpPr>
          <p:cNvPr id="12" name="Shape 8"/>
          <p:cNvSpPr/>
          <p:nvPr/>
        </p:nvSpPr>
        <p:spPr>
          <a:xfrm>
            <a:off x="4343400" y="1783080"/>
            <a:ext cx="3520440" cy="3657600"/>
          </a:xfrm>
          <a:prstGeom prst="roundRect">
            <a:avLst>
              <a:gd name="adj" fmla="val 3117"/>
            </a:avLst>
          </a:prstGeom>
          <a:solidFill>
            <a:srgbClr val="E8F1FA"/>
          </a:solidFill>
          <a:ln w="12700">
            <a:solidFill>
              <a:srgbClr val="C7DDF2"/>
            </a:solidFill>
            <a:prstDash val="solid"/>
          </a:ln>
        </p:spPr>
      </p:sp>
      <p:sp>
        <p:nvSpPr>
          <p:cNvPr id="13" name="Text 9"/>
          <p:cNvSpPr txBox="1"/>
          <p:nvPr/>
        </p:nvSpPr>
        <p:spPr>
          <a:xfrm>
            <a:off x="4617720" y="2057400"/>
            <a:ext cx="2971800" cy="384048"/>
          </a:xfrm>
          <a:prstGeom prst="rect">
            <a:avLst/>
          </a:prstGeom>
          <a:noFill/>
          <a:ln/>
        </p:spPr>
        <p:txBody>
          <a:bodyPr wrap="square" lIns="0" tIns="0" rIns="0" bIns="0" rtlCol="0" anchor="ctr"/>
          <a:lstStyle/>
          <a:p>
            <a:pPr indent="0" marL="0">
              <a:buNone/>
            </a:pPr>
            <a:r>
              <a:rPr lang="en-US" sz="1600" b="1" dirty="0">
                <a:solidFill>
                  <a:srgbClr val="00549F"/>
                </a:solidFill>
                <a:latin typeface="Calibri" pitchFamily="34" charset="0"/>
                <a:ea typeface="Calibri" pitchFamily="34" charset="-122"/>
                <a:cs typeface="Calibri" pitchFamily="34" charset="-120"/>
              </a:rPr>
              <a:t>au printemps</a:t>
            </a:r>
            <a:endParaRPr lang="en-US" sz="1600" dirty="0"/>
          </a:p>
        </p:txBody>
      </p:sp>
      <p:sp>
        <p:nvSpPr>
          <p:cNvPr id="14" name="Text 10"/>
          <p:cNvSpPr txBox="1"/>
          <p:nvPr/>
        </p:nvSpPr>
        <p:spPr>
          <a:xfrm>
            <a:off x="4617720" y="2377440"/>
            <a:ext cx="2971800" cy="914400"/>
          </a:xfrm>
          <a:prstGeom prst="rect">
            <a:avLst/>
          </a:prstGeom>
          <a:noFill/>
          <a:ln/>
        </p:spPr>
        <p:txBody>
          <a:bodyPr wrap="square" lIns="0" tIns="0" rIns="0" bIns="0" rtlCol="0" anchor="ctr"/>
          <a:lstStyle/>
          <a:p>
            <a:pPr indent="0" marL="0">
              <a:buNone/>
            </a:pPr>
            <a:r>
              <a:rPr lang="en-US" sz="4600" b="1" dirty="0">
                <a:solidFill>
                  <a:srgbClr val="00549F"/>
                </a:solidFill>
                <a:latin typeface="Cambria" pitchFamily="34" charset="0"/>
                <a:ea typeface="Cambria" pitchFamily="34" charset="-122"/>
                <a:cs typeface="Cambria" pitchFamily="34" charset="-120"/>
              </a:rPr>
              <a:t>2027</a:t>
            </a:r>
            <a:endParaRPr lang="en-US" sz="4600" dirty="0"/>
          </a:p>
        </p:txBody>
      </p:sp>
      <p:sp>
        <p:nvSpPr>
          <p:cNvPr id="15" name="Text 11"/>
          <p:cNvSpPr txBox="1"/>
          <p:nvPr/>
        </p:nvSpPr>
        <p:spPr>
          <a:xfrm>
            <a:off x="4617720" y="3364992"/>
            <a:ext cx="2971800" cy="749808"/>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La certification PIX</a:t>
            </a:r>
            <a:endParaRPr lang="en-US" sz="1900" dirty="0"/>
          </a:p>
        </p:txBody>
      </p:sp>
      <p:sp>
        <p:nvSpPr>
          <p:cNvPr id="16" name="Text 12"/>
          <p:cNvSpPr txBox="1"/>
          <p:nvPr/>
        </p:nvSpPr>
        <p:spPr>
          <a:xfrm>
            <a:off x="4617720" y="4160520"/>
            <a:ext cx="2971800" cy="1188720"/>
          </a:xfrm>
          <a:prstGeom prst="rect">
            <a:avLst/>
          </a:prstGeom>
          <a:noFill/>
          <a:ln/>
        </p:spPr>
        <p:txBody>
          <a:bodyPr wrap="square" lIns="0" tIns="0" rIns="0" bIns="0" rtlCol="0" anchor="ctr"/>
          <a:lstStyle/>
          <a:p>
            <a:pPr indent="0" marL="0">
              <a:lnSpc>
                <a:spcPts val="1900"/>
              </a:lnSpc>
              <a:buNone/>
            </a:pPr>
            <a:r>
              <a:rPr lang="en-US" sz="1400" dirty="0">
                <a:solidFill>
                  <a:srgbClr val="2E3F4D"/>
                </a:solidFill>
                <a:latin typeface="Calibri" pitchFamily="34" charset="0"/>
                <a:ea typeface="Calibri" pitchFamily="34" charset="-122"/>
                <a:cs typeface="Calibri" pitchFamily="34" charset="-120"/>
              </a:rPr>
              <a:t>Obligatoire en fin de 3e. Nous commencerons le parcours dès la séance suivante.</a:t>
            </a:r>
            <a:endParaRPr lang="en-US" sz="1400" dirty="0"/>
          </a:p>
        </p:txBody>
      </p:sp>
      <p:sp>
        <p:nvSpPr>
          <p:cNvPr id="17" name="Shape 13"/>
          <p:cNvSpPr/>
          <p:nvPr/>
        </p:nvSpPr>
        <p:spPr>
          <a:xfrm>
            <a:off x="8046720" y="1783080"/>
            <a:ext cx="3520440" cy="3657600"/>
          </a:xfrm>
          <a:prstGeom prst="roundRect">
            <a:avLst>
              <a:gd name="adj" fmla="val 3117"/>
            </a:avLst>
          </a:prstGeom>
          <a:solidFill>
            <a:srgbClr val="E8F1FA"/>
          </a:solidFill>
          <a:ln w="12700">
            <a:solidFill>
              <a:srgbClr val="C7DDF2"/>
            </a:solidFill>
            <a:prstDash val="solid"/>
          </a:ln>
        </p:spPr>
      </p:sp>
      <p:sp>
        <p:nvSpPr>
          <p:cNvPr id="18" name="Text 14"/>
          <p:cNvSpPr txBox="1"/>
          <p:nvPr/>
        </p:nvSpPr>
        <p:spPr>
          <a:xfrm>
            <a:off x="8321040" y="2057400"/>
            <a:ext cx="2971800" cy="384048"/>
          </a:xfrm>
          <a:prstGeom prst="rect">
            <a:avLst/>
          </a:prstGeom>
          <a:noFill/>
          <a:ln/>
        </p:spPr>
        <p:txBody>
          <a:bodyPr wrap="square" lIns="0" tIns="0" rIns="0" bIns="0" rtlCol="0" anchor="ctr"/>
          <a:lstStyle/>
          <a:p>
            <a:pPr indent="0" marL="0">
              <a:buNone/>
            </a:pPr>
            <a:r>
              <a:rPr lang="en-US" sz="1600" b="1" dirty="0">
                <a:solidFill>
                  <a:srgbClr val="00549F"/>
                </a:solidFill>
                <a:latin typeface="Calibri" pitchFamily="34" charset="0"/>
                <a:ea typeface="Calibri" pitchFamily="34" charset="-122"/>
                <a:cs typeface="Calibri" pitchFamily="34" charset="-120"/>
              </a:rPr>
              <a:t>avril</a:t>
            </a:r>
            <a:endParaRPr lang="en-US" sz="1600" dirty="0"/>
          </a:p>
        </p:txBody>
      </p:sp>
      <p:sp>
        <p:nvSpPr>
          <p:cNvPr id="19" name="Text 15"/>
          <p:cNvSpPr txBox="1"/>
          <p:nvPr/>
        </p:nvSpPr>
        <p:spPr>
          <a:xfrm>
            <a:off x="8321040" y="2377440"/>
            <a:ext cx="2971800" cy="914400"/>
          </a:xfrm>
          <a:prstGeom prst="rect">
            <a:avLst/>
          </a:prstGeom>
          <a:noFill/>
          <a:ln/>
        </p:spPr>
        <p:txBody>
          <a:bodyPr wrap="square" lIns="0" tIns="0" rIns="0" bIns="0" rtlCol="0" anchor="ctr"/>
          <a:lstStyle/>
          <a:p>
            <a:pPr indent="0" marL="0">
              <a:buNone/>
            </a:pPr>
            <a:r>
              <a:rPr lang="en-US" sz="4600" b="1" dirty="0">
                <a:solidFill>
                  <a:srgbClr val="00549F"/>
                </a:solidFill>
                <a:latin typeface="Cambria" pitchFamily="34" charset="0"/>
                <a:ea typeface="Cambria" pitchFamily="34" charset="-122"/>
                <a:cs typeface="Cambria" pitchFamily="34" charset="-120"/>
              </a:rPr>
              <a:t>2027</a:t>
            </a:r>
            <a:endParaRPr lang="en-US" sz="4600" dirty="0"/>
          </a:p>
        </p:txBody>
      </p:sp>
      <p:sp>
        <p:nvSpPr>
          <p:cNvPr id="20" name="Text 16"/>
          <p:cNvSpPr txBox="1"/>
          <p:nvPr/>
        </p:nvSpPr>
        <p:spPr>
          <a:xfrm>
            <a:off x="8321040" y="3364992"/>
            <a:ext cx="2971800" cy="749808"/>
          </a:xfrm>
          <a:prstGeom prst="rect">
            <a:avLst/>
          </a:prstGeom>
          <a:noFill/>
          <a:ln/>
        </p:spPr>
        <p:txBody>
          <a:bodyPr wrap="square" lIns="0" tIns="0" rIns="0" bIns="0" rtlCol="0" anchor="ctr"/>
          <a:lstStyle/>
          <a:p>
            <a:pPr indent="0" marL="0">
              <a:buNone/>
            </a:pPr>
            <a:r>
              <a:rPr lang="en-US" sz="1900" b="1" dirty="0">
                <a:solidFill>
                  <a:srgbClr val="1B2A38"/>
                </a:solidFill>
                <a:latin typeface="Cambria" pitchFamily="34" charset="0"/>
                <a:ea typeface="Cambria" pitchFamily="34" charset="-122"/>
                <a:cs typeface="Cambria" pitchFamily="34" charset="-120"/>
              </a:rPr>
              <a:t>Votre projet</a:t>
            </a:r>
            <a:endParaRPr lang="en-US" sz="1900" dirty="0"/>
          </a:p>
        </p:txBody>
      </p:sp>
      <p:sp>
        <p:nvSpPr>
          <p:cNvPr id="21" name="Text 17"/>
          <p:cNvSpPr txBox="1"/>
          <p:nvPr/>
        </p:nvSpPr>
        <p:spPr>
          <a:xfrm>
            <a:off x="8321040" y="4160520"/>
            <a:ext cx="2971800" cy="1188720"/>
          </a:xfrm>
          <a:prstGeom prst="rect">
            <a:avLst/>
          </a:prstGeom>
          <a:noFill/>
          <a:ln/>
        </p:spPr>
        <p:txBody>
          <a:bodyPr wrap="square" lIns="0" tIns="0" rIns="0" bIns="0" rtlCol="0" anchor="ctr"/>
          <a:lstStyle/>
          <a:p>
            <a:pPr indent="0" marL="0">
              <a:lnSpc>
                <a:spcPts val="1900"/>
              </a:lnSpc>
              <a:buNone/>
            </a:pPr>
            <a:r>
              <a:rPr lang="en-US" sz="1400" dirty="0">
                <a:solidFill>
                  <a:srgbClr val="2E3F4D"/>
                </a:solidFill>
                <a:latin typeface="Calibri" pitchFamily="34" charset="0"/>
                <a:ea typeface="Calibri" pitchFamily="34" charset="-122"/>
                <a:cs typeface="Calibri" pitchFamily="34" charset="-120"/>
              </a:rPr>
              <a:t>Un objet que vous concevrez et présenterez vous-mêmes, à l'oral.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144768"/>
            <a:ext cx="457200" cy="457200"/>
          </a:xfrm>
          <a:prstGeom prst="rect">
            <a:avLst/>
          </a:prstGeom>
        </p:spPr>
      </p:pic>
      <p:pic>
        <p:nvPicPr>
          <p:cNvPr id="3" name="Image 1" descr="preencoded.png">    </p:cNvPr>
          <p:cNvPicPr>
            <a:picLocks noChangeAspect="1"/>
          </p:cNvPicPr>
          <p:nvPr/>
        </p:nvPicPr>
        <p:blipFill>
          <a:blip r:embed="rId2"/>
          <a:stretch>
            <a:fillRect/>
          </a:stretch>
        </p:blipFill>
        <p:spPr>
          <a:xfrm>
            <a:off x="10378440" y="6199632"/>
            <a:ext cx="1371600" cy="347472"/>
          </a:xfrm>
          <a:prstGeom prst="rect">
            <a:avLst/>
          </a:prstGeom>
        </p:spPr>
      </p:pic>
      <p:sp>
        <p:nvSpPr>
          <p:cNvPr id="4" name="Text 0"/>
          <p:cNvSpPr txBox="1"/>
          <p:nvPr/>
        </p:nvSpPr>
        <p:spPr>
          <a:xfrm>
            <a:off x="960120" y="6199632"/>
            <a:ext cx="5486400" cy="32918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Technologie · 3e · première séance</a:t>
            </a:r>
            <a:endParaRPr lang="en-US" sz="1000" dirty="0"/>
          </a:p>
        </p:txBody>
      </p:sp>
      <p:sp>
        <p:nvSpPr>
          <p:cNvPr id="5" name="Text 1"/>
          <p:cNvSpPr txBox="1"/>
          <p:nvPr/>
        </p:nvSpPr>
        <p:spPr>
          <a:xfrm>
            <a:off x="640080" y="384048"/>
            <a:ext cx="10881360" cy="292608"/>
          </a:xfrm>
          <a:prstGeom prst="rect">
            <a:avLst/>
          </a:prstGeom>
          <a:noFill/>
          <a:ln/>
        </p:spPr>
        <p:txBody>
          <a:bodyPr wrap="square" lIns="0" tIns="0" rIns="0" bIns="0" rtlCol="0" anchor="ctr"/>
          <a:lstStyle/>
          <a:p>
            <a:pPr indent="0" marL="0">
              <a:buNone/>
            </a:pPr>
            <a:r>
              <a:rPr lang="en-US" sz="1300" b="1" spc="200" kern="0" dirty="0">
                <a:solidFill>
                  <a:srgbClr val="00549F"/>
                </a:solidFill>
                <a:latin typeface="Calibri" pitchFamily="34" charset="0"/>
                <a:ea typeface="Calibri" pitchFamily="34" charset="-122"/>
                <a:cs typeface="Calibri" pitchFamily="34" charset="-120"/>
              </a:rPr>
              <a:t>RITUEL DE FERMETURE</a:t>
            </a:r>
            <a:endParaRPr lang="en-US" sz="1300" dirty="0"/>
          </a:p>
        </p:txBody>
      </p:sp>
      <p:sp>
        <p:nvSpPr>
          <p:cNvPr id="6" name="Text 2"/>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Avant de vous lever</a:t>
            </a:r>
            <a:endParaRPr lang="en-US" sz="3400" dirty="0"/>
          </a:p>
        </p:txBody>
      </p:sp>
      <p:sp>
        <p:nvSpPr>
          <p:cNvPr id="7" name="Shape 3"/>
          <p:cNvSpPr/>
          <p:nvPr/>
        </p:nvSpPr>
        <p:spPr>
          <a:xfrm>
            <a:off x="640080" y="1783080"/>
            <a:ext cx="3520440" cy="2286000"/>
          </a:xfrm>
          <a:prstGeom prst="roundRect">
            <a:avLst>
              <a:gd name="adj" fmla="val 4800"/>
            </a:avLst>
          </a:prstGeom>
          <a:solidFill>
            <a:srgbClr val="E8F1FA"/>
          </a:solidFill>
          <a:ln w="12700">
            <a:solidFill>
              <a:srgbClr val="C7DDF2"/>
            </a:solidFill>
            <a:prstDash val="solid"/>
          </a:ln>
        </p:spPr>
      </p:sp>
      <p:sp>
        <p:nvSpPr>
          <p:cNvPr id="8" name="Shape 4"/>
          <p:cNvSpPr/>
          <p:nvPr/>
        </p:nvSpPr>
        <p:spPr>
          <a:xfrm>
            <a:off x="914400" y="2020824"/>
            <a:ext cx="502920" cy="502920"/>
          </a:xfrm>
          <a:prstGeom prst="ellipse">
            <a:avLst/>
          </a:prstGeom>
          <a:solidFill>
            <a:srgbClr val="00549F"/>
          </a:solidFill>
          <a:ln w="12700">
            <a:solidFill>
              <a:srgbClr val="00549F"/>
            </a:solidFill>
            <a:prstDash val="solid"/>
          </a:ln>
        </p:spPr>
      </p:sp>
      <p:sp>
        <p:nvSpPr>
          <p:cNvPr id="9" name="Text 5"/>
          <p:cNvSpPr txBox="1"/>
          <p:nvPr/>
        </p:nvSpPr>
        <p:spPr>
          <a:xfrm>
            <a:off x="914400" y="202082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10" name="Text 6"/>
          <p:cNvSpPr txBox="1"/>
          <p:nvPr/>
        </p:nvSpPr>
        <p:spPr>
          <a:xfrm>
            <a:off x="914400" y="2651760"/>
            <a:ext cx="2971800" cy="402336"/>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Déconnexion</a:t>
            </a:r>
            <a:endParaRPr lang="en-US" sz="1700" dirty="0"/>
          </a:p>
        </p:txBody>
      </p:sp>
      <p:sp>
        <p:nvSpPr>
          <p:cNvPr id="11" name="Text 7"/>
          <p:cNvSpPr txBox="1"/>
          <p:nvPr/>
        </p:nvSpPr>
        <p:spPr>
          <a:xfrm>
            <a:off x="914400" y="3127248"/>
            <a:ext cx="2971800" cy="75895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Se déconnecter de tous les comptes.</a:t>
            </a:r>
            <a:endParaRPr lang="en-US" sz="1500" dirty="0"/>
          </a:p>
        </p:txBody>
      </p:sp>
      <p:sp>
        <p:nvSpPr>
          <p:cNvPr id="12" name="Shape 8"/>
          <p:cNvSpPr/>
          <p:nvPr/>
        </p:nvSpPr>
        <p:spPr>
          <a:xfrm>
            <a:off x="4343400" y="1783080"/>
            <a:ext cx="3520440" cy="2286000"/>
          </a:xfrm>
          <a:prstGeom prst="roundRect">
            <a:avLst>
              <a:gd name="adj" fmla="val 4800"/>
            </a:avLst>
          </a:prstGeom>
          <a:solidFill>
            <a:srgbClr val="E8F1FA"/>
          </a:solidFill>
          <a:ln w="12700">
            <a:solidFill>
              <a:srgbClr val="C7DDF2"/>
            </a:solidFill>
            <a:prstDash val="solid"/>
          </a:ln>
        </p:spPr>
      </p:sp>
      <p:sp>
        <p:nvSpPr>
          <p:cNvPr id="13" name="Shape 9"/>
          <p:cNvSpPr/>
          <p:nvPr/>
        </p:nvSpPr>
        <p:spPr>
          <a:xfrm>
            <a:off x="4617720" y="2020824"/>
            <a:ext cx="502920" cy="502920"/>
          </a:xfrm>
          <a:prstGeom prst="ellipse">
            <a:avLst/>
          </a:prstGeom>
          <a:solidFill>
            <a:srgbClr val="00549F"/>
          </a:solidFill>
          <a:ln w="12700">
            <a:solidFill>
              <a:srgbClr val="00549F"/>
            </a:solidFill>
            <a:prstDash val="solid"/>
          </a:ln>
        </p:spPr>
      </p:sp>
      <p:sp>
        <p:nvSpPr>
          <p:cNvPr id="14" name="Text 10"/>
          <p:cNvSpPr txBox="1"/>
          <p:nvPr/>
        </p:nvSpPr>
        <p:spPr>
          <a:xfrm>
            <a:off x="4617720" y="202082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5" name="Text 11"/>
          <p:cNvSpPr txBox="1"/>
          <p:nvPr/>
        </p:nvSpPr>
        <p:spPr>
          <a:xfrm>
            <a:off x="4617720" y="2651760"/>
            <a:ext cx="2971800" cy="402336"/>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Fermeture</a:t>
            </a:r>
            <a:endParaRPr lang="en-US" sz="1700" dirty="0"/>
          </a:p>
        </p:txBody>
      </p:sp>
      <p:sp>
        <p:nvSpPr>
          <p:cNvPr id="16" name="Text 12"/>
          <p:cNvSpPr txBox="1"/>
          <p:nvPr/>
        </p:nvSpPr>
        <p:spPr>
          <a:xfrm>
            <a:off x="4617720" y="3127248"/>
            <a:ext cx="2971800" cy="75895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Fermer toutes les fenêtres de navigation privée.</a:t>
            </a:r>
            <a:endParaRPr lang="en-US" sz="1500" dirty="0"/>
          </a:p>
        </p:txBody>
      </p:sp>
      <p:sp>
        <p:nvSpPr>
          <p:cNvPr id="17" name="Shape 13"/>
          <p:cNvSpPr/>
          <p:nvPr/>
        </p:nvSpPr>
        <p:spPr>
          <a:xfrm>
            <a:off x="8046720" y="1783080"/>
            <a:ext cx="3520440" cy="2286000"/>
          </a:xfrm>
          <a:prstGeom prst="roundRect">
            <a:avLst>
              <a:gd name="adj" fmla="val 4800"/>
            </a:avLst>
          </a:prstGeom>
          <a:solidFill>
            <a:srgbClr val="E8F1FA"/>
          </a:solidFill>
          <a:ln w="12700">
            <a:solidFill>
              <a:srgbClr val="C7DDF2"/>
            </a:solidFill>
            <a:prstDash val="solid"/>
          </a:ln>
        </p:spPr>
      </p:sp>
      <p:sp>
        <p:nvSpPr>
          <p:cNvPr id="18" name="Shape 14"/>
          <p:cNvSpPr/>
          <p:nvPr/>
        </p:nvSpPr>
        <p:spPr>
          <a:xfrm>
            <a:off x="8321040" y="2020824"/>
            <a:ext cx="502920" cy="502920"/>
          </a:xfrm>
          <a:prstGeom prst="ellipse">
            <a:avLst/>
          </a:prstGeom>
          <a:solidFill>
            <a:srgbClr val="00549F"/>
          </a:solidFill>
          <a:ln w="12700">
            <a:solidFill>
              <a:srgbClr val="00549F"/>
            </a:solidFill>
            <a:prstDash val="solid"/>
          </a:ln>
        </p:spPr>
      </p:sp>
      <p:sp>
        <p:nvSpPr>
          <p:cNvPr id="19" name="Text 15"/>
          <p:cNvSpPr txBox="1"/>
          <p:nvPr/>
        </p:nvSpPr>
        <p:spPr>
          <a:xfrm>
            <a:off x="8321040" y="2020824"/>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3</a:t>
            </a:r>
            <a:endParaRPr lang="en-US" sz="2100" dirty="0"/>
          </a:p>
        </p:txBody>
      </p:sp>
      <p:sp>
        <p:nvSpPr>
          <p:cNvPr id="20" name="Text 16"/>
          <p:cNvSpPr txBox="1"/>
          <p:nvPr/>
        </p:nvSpPr>
        <p:spPr>
          <a:xfrm>
            <a:off x="8321040" y="2651760"/>
            <a:ext cx="2971800" cy="402336"/>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Vérification</a:t>
            </a:r>
            <a:endParaRPr lang="en-US" sz="1700" dirty="0"/>
          </a:p>
        </p:txBody>
      </p:sp>
      <p:sp>
        <p:nvSpPr>
          <p:cNvPr id="21" name="Text 17"/>
          <p:cNvSpPr txBox="1"/>
          <p:nvPr/>
        </p:nvSpPr>
        <p:spPr>
          <a:xfrm>
            <a:off x="8321040" y="3127248"/>
            <a:ext cx="2971800" cy="758952"/>
          </a:xfrm>
          <a:prstGeom prst="rect">
            <a:avLst/>
          </a:prstGeom>
          <a:noFill/>
          <a:ln/>
        </p:spPr>
        <p:txBody>
          <a:bodyPr wrap="square" lIns="0" tIns="0" rIns="0" bIns="0" rtlCol="0" anchor="ctr"/>
          <a:lstStyle/>
          <a:p>
            <a:pPr indent="0" marL="0">
              <a:lnSpc>
                <a:spcPts val="2100"/>
              </a:lnSpc>
              <a:buNone/>
            </a:pPr>
            <a:r>
              <a:rPr lang="en-US" sz="1500" dirty="0">
                <a:solidFill>
                  <a:srgbClr val="2E3F4D"/>
                </a:solidFill>
                <a:latin typeface="Calibri" pitchFamily="34" charset="0"/>
                <a:ea typeface="Calibri" pitchFamily="34" charset="-122"/>
                <a:cs typeface="Calibri" pitchFamily="34" charset="-120"/>
              </a:rPr>
              <a:t>Plus aucun avatar en haut à droite. Levez la main.</a:t>
            </a:r>
            <a:endParaRPr lang="en-US" sz="1500" dirty="0"/>
          </a:p>
        </p:txBody>
      </p:sp>
      <p:sp>
        <p:nvSpPr>
          <p:cNvPr id="22" name="Shape 18"/>
          <p:cNvSpPr/>
          <p:nvPr/>
        </p:nvSpPr>
        <p:spPr>
          <a:xfrm>
            <a:off x="640080" y="4297680"/>
            <a:ext cx="10881360" cy="1188720"/>
          </a:xfrm>
          <a:prstGeom prst="roundRect">
            <a:avLst>
              <a:gd name="adj" fmla="val 9231"/>
            </a:avLst>
          </a:prstGeom>
          <a:solidFill>
            <a:srgbClr val="00304F"/>
          </a:solidFill>
          <a:ln w="12700">
            <a:solidFill>
              <a:srgbClr val="00304F"/>
            </a:solidFill>
            <a:prstDash val="solid"/>
          </a:ln>
        </p:spPr>
      </p:sp>
      <p:sp>
        <p:nvSpPr>
          <p:cNvPr id="23" name="Text 19"/>
          <p:cNvSpPr txBox="1"/>
          <p:nvPr/>
        </p:nvSpPr>
        <p:spPr>
          <a:xfrm>
            <a:off x="960120" y="4297680"/>
            <a:ext cx="10241280" cy="11887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Personne ne se lève avant que les 9 postes ne soient validés.</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304F"/>
        </a:solidFill>
      </p:bgPr>
    </p:bg>
    <p:spTree>
      <p:nvGrpSpPr>
        <p:cNvPr id="1" name=""/>
        <p:cNvGrpSpPr/>
        <p:nvPr/>
      </p:nvGrpSpPr>
      <p:grpSpPr>
        <a:xfrm>
          <a:off x="0" y="0"/>
          <a:ext cx="0" cy="0"/>
          <a:chOff x="0" y="0"/>
          <a:chExt cx="0" cy="0"/>
        </a:xfrm>
      </p:grpSpPr>
      <p:sp>
        <p:nvSpPr>
          <p:cNvPr id="2" name="Text 0"/>
          <p:cNvSpPr txBox="1"/>
          <p:nvPr/>
        </p:nvSpPr>
        <p:spPr>
          <a:xfrm>
            <a:off x="822960" y="2286000"/>
            <a:ext cx="10515600" cy="548640"/>
          </a:xfrm>
          <a:prstGeom prst="rect">
            <a:avLst/>
          </a:prstGeom>
          <a:noFill/>
          <a:ln/>
        </p:spPr>
        <p:txBody>
          <a:bodyPr wrap="square" lIns="0" tIns="0" rIns="0" bIns="0" rtlCol="0" anchor="ctr"/>
          <a:lstStyle/>
          <a:p>
            <a:pPr indent="0" marL="0">
              <a:buNone/>
            </a:pPr>
            <a:r>
              <a:rPr lang="en-US" sz="2200" spc="400" kern="0" dirty="0">
                <a:solidFill>
                  <a:srgbClr val="7FB2DA"/>
                </a:solidFill>
                <a:latin typeface="Calibri" pitchFamily="34" charset="0"/>
                <a:ea typeface="Calibri" pitchFamily="34" charset="-122"/>
                <a:cs typeface="Calibri" pitchFamily="34" charset="-120"/>
              </a:rPr>
              <a:t>La séance suivante</a:t>
            </a:r>
            <a:endParaRPr lang="en-US" sz="2200" dirty="0"/>
          </a:p>
        </p:txBody>
      </p:sp>
      <p:sp>
        <p:nvSpPr>
          <p:cNvPr id="3" name="Text 1"/>
          <p:cNvSpPr txBox="1"/>
          <p:nvPr/>
        </p:nvSpPr>
        <p:spPr>
          <a:xfrm>
            <a:off x="822960" y="278892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PIX, et la suite</a:t>
            </a:r>
            <a:endParaRPr lang="en-US" sz="5400" dirty="0"/>
          </a:p>
        </p:txBody>
      </p:sp>
      <p:sp>
        <p:nvSpPr>
          <p:cNvPr id="4" name="Text 2"/>
          <p:cNvSpPr txBox="1"/>
          <p:nvPr/>
        </p:nvSpPr>
        <p:spPr>
          <a:xfrm>
            <a:off x="822960" y="3977640"/>
            <a:ext cx="10515600" cy="457200"/>
          </a:xfrm>
          <a:prstGeom prst="rect">
            <a:avLst/>
          </a:prstGeom>
          <a:noFill/>
          <a:ln/>
        </p:spPr>
        <p:txBody>
          <a:bodyPr wrap="square" lIns="0" tIns="0" rIns="0" bIns="0" rtlCol="0" anchor="ctr"/>
          <a:lstStyle/>
          <a:p>
            <a:pPr indent="0" marL="0">
              <a:buNone/>
            </a:pPr>
            <a:r>
              <a:rPr lang="en-US" sz="2000" dirty="0">
                <a:solidFill>
                  <a:srgbClr val="C6DBEC"/>
                </a:solidFill>
                <a:latin typeface="Calibri" pitchFamily="34" charset="0"/>
                <a:ea typeface="Calibri" pitchFamily="34" charset="-122"/>
                <a:cs typeface="Calibri" pitchFamily="34" charset="-120"/>
              </a:rPr>
              <a:t>Rendez votre feuille B en sortant.</a:t>
            </a:r>
            <a:endParaRPr lang="en-US" sz="2000" dirty="0"/>
          </a:p>
        </p:txBody>
      </p:sp>
      <p:sp>
        <p:nvSpPr>
          <p:cNvPr id="5" name="Shape 3"/>
          <p:cNvSpPr/>
          <p:nvPr/>
        </p:nvSpPr>
        <p:spPr>
          <a:xfrm>
            <a:off x="713232" y="5010912"/>
            <a:ext cx="877824" cy="877824"/>
          </a:xfrm>
          <a:prstGeom prst="roundRect">
            <a:avLst>
              <a:gd name="adj" fmla="val 8333"/>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22960" y="5120640"/>
            <a:ext cx="658368" cy="658368"/>
          </a:xfrm>
          <a:prstGeom prst="rect">
            <a:avLst/>
          </a:prstGeom>
        </p:spPr>
      </p:pic>
      <p:sp>
        <p:nvSpPr>
          <p:cNvPr id="7" name="Shape 4"/>
          <p:cNvSpPr/>
          <p:nvPr/>
        </p:nvSpPr>
        <p:spPr>
          <a:xfrm>
            <a:off x="9802368" y="5084064"/>
            <a:ext cx="2112264" cy="749808"/>
          </a:xfrm>
          <a:prstGeom prst="roundRect">
            <a:avLst>
              <a:gd name="adj" fmla="val 9756"/>
            </a:avLst>
          </a:prstGeom>
          <a:solidFill>
            <a:srgbClr val="FFFFFF"/>
          </a:solidFill>
          <a:ln w="12700">
            <a:solidFill>
              <a:srgbClr val="FFFFFF"/>
            </a:solidFill>
            <a:prstDash val="solid"/>
          </a:ln>
        </p:spPr>
      </p:sp>
      <p:pic>
        <p:nvPicPr>
          <p:cNvPr id="8" name="Image 1" descr="preencoded.png">    </p:cNvPr>
          <p:cNvPicPr>
            <a:picLocks noChangeAspect="1"/>
          </p:cNvPicPr>
          <p:nvPr/>
        </p:nvPicPr>
        <p:blipFill>
          <a:blip r:embed="rId2"/>
          <a:stretch>
            <a:fillRect/>
          </a:stretch>
        </p:blipFill>
        <p:spPr>
          <a:xfrm>
            <a:off x="9966960" y="5230368"/>
            <a:ext cx="1783080"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Technologie 3e - premiere seance</dc:title>
  <dc:subject>PptxGenJS Presentation</dc:subject>
  <dc:creator>Lycee Francais de Tananarive</dc:creator>
  <cp:lastModifiedBy>Lycee Francais de Tananarive</cp:lastModifiedBy>
  <cp:revision>1</cp:revision>
  <dcterms:created xsi:type="dcterms:W3CDTF">2026-09-03T08:59:52Z</dcterms:created>
  <dcterms:modified xsi:type="dcterms:W3CDTF">2026-09-03T08:59:52Z</dcterms:modified>
</cp:coreProperties>
</file>